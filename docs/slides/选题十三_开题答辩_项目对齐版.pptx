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21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257DFA-D56A-450E-831C-04AE56CD9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6F91360-7CAE-4454-95CF-331888CF14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80A343-BEBE-457A-AAA9-F0E3BA158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59FB-D5B5-4C40-915B-02566E5A5203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156B6A-17C4-4270-AADE-B006A6EFC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C1B8D3-A61B-4114-BBA6-509195A0C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4DF4E-92F3-454B-902E-6F185FD1FE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44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2A794D-59C0-4BDE-ABD2-B50CA0875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2FF063-7DDF-4319-9453-9B9D559C9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5FB521-A4BC-414C-BBFF-E8C80BE4C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59FB-D5B5-4C40-915B-02566E5A5203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154276-CFA4-4B4E-A20C-AB92965A8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487F5E-F6CF-466D-BBD8-72033D83D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4DF4E-92F3-454B-902E-6F185FD1FE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991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F27914-B0EF-4FD5-BF00-4DF5A15AB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560141-FDFB-4B24-B852-6C3E4FB30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58F1C8-EA5A-4EF5-B6CC-D6E30F0B7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59FB-D5B5-4C40-915B-02566E5A5203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9C2CEF-1D2F-479E-AB5C-835CB9890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A1C4F8-5294-4430-A6B8-931023C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4DF4E-92F3-454B-902E-6F185FD1FE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813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869137-9E7B-4207-ACF7-47652B8BC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9FC19-4370-4A44-82B1-97E16AC2F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4AE5BD-FF01-440E-902D-007BDB417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04EC28-4C7B-41F0-BC76-8CBDD3314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59FB-D5B5-4C40-915B-02566E5A5203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FA0702-2CF7-4EAC-891F-D27563F57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6056AD-AC21-442D-8FC6-DED3C2BA8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4DF4E-92F3-454B-902E-6F185FD1FE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236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BEE684-F484-4C8A-AE1A-7AF23A798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959C70-A689-44BC-8864-3FA948BAD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F4639B-DD22-4C2C-B1E9-2AE2BE453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07204E1-0803-421F-AF78-EFA87A18F4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D605BC8-B2FF-4423-AD50-CDD325A55A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D1CFC7E-D43E-4B6C-B1DD-5A9F1E490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59FB-D5B5-4C40-915B-02566E5A5203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9C834F2-3614-4289-B82F-AC67E04F8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18DE473-4292-4AF6-98E2-679ED183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4DF4E-92F3-454B-902E-6F185FD1FE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326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A0541A-D106-40D1-8C05-0F57F7CA9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4D418CD-043B-4C31-BA6B-D96621C7D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59FB-D5B5-4C40-915B-02566E5A5203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899003-F514-4978-8C11-71E100A6F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1E4ECDB-2EB9-4D53-8F87-19502D93F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4DF4E-92F3-454B-902E-6F185FD1FE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641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D3C4EA9-D11D-4AC8-8CBC-651B39A38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59FB-D5B5-4C40-915B-02566E5A5203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76C62E3-80B5-4840-B013-89511181B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8049EB-EB55-417C-8F46-168228AD0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4DF4E-92F3-454B-902E-6F185FD1FE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104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3570AD-695D-4BF4-A003-2A988667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6DB89D-A8DC-436A-8010-AE24662F9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3160C0-37F2-499E-A4DE-A6A546F84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9EA67F-7E71-4B12-A40C-1F3C5E393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59FB-D5B5-4C40-915B-02566E5A5203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FC3294-9E72-40B8-B055-2D464E41E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506293-9F48-4734-ACA6-7BB7B4646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4DF4E-92F3-454B-902E-6F185FD1FE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989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91A61-B73A-4A0E-8B0E-421FA83B7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DBCED3C-97F4-4E32-B707-AC5C87E638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D6E939-8E56-424E-9EF9-E5B6688E0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4371C8-7FD2-4362-AC18-B4227BB90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59FB-D5B5-4C40-915B-02566E5A5203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E4D579-45D3-46CC-8D46-B603E776E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601525-0A7A-4102-8FE8-54B1D6B7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4DF4E-92F3-454B-902E-6F185FD1FE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01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C61194-C306-4C0F-9752-715D4D843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CD8290D-D6C2-40BF-8A72-FC237F9A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CC1B23-F632-441B-97BD-276ED6AA3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59FB-D5B5-4C40-915B-02566E5A5203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D1F024-9FFF-4128-A7DA-3B40096E7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8466D2-5DEA-4C97-AF2D-B475A491A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4DF4E-92F3-454B-902E-6F185FD1FE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675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02E39F5-8BA3-4721-A51D-753E9D8476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C3FD1D-22D8-497C-8D4B-4F5011655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B047BA-486E-49DD-B540-D2C06C37E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59FB-D5B5-4C40-915B-02566E5A5203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CC8EC7-0994-4F2D-AE27-A0353C5DC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AB7D6D-5C3A-4D16-9168-1AE61741D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4DF4E-92F3-454B-902E-6F185FD1FE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4794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4149EB5-74C2-49CE-BDAC-634F48786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A8B4A5-3F06-42FB-876B-8C49C0DBB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31331B-ED52-45BC-A12E-EE53835D50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A59FB-D5B5-4C40-915B-02566E5A5203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BCC4DE-1767-4B3B-80B8-D8FC91ABD3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BC0645-E147-4801-B407-6ACEC227DC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4DF4E-92F3-454B-902E-6F185FD1FE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445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80DEB01-3C85-452C-9710-C74EAB7146B2}"/>
              </a:ext>
            </a:extLst>
          </p:cNvPr>
          <p:cNvSpPr txBox="1"/>
          <p:nvPr/>
        </p:nvSpPr>
        <p:spPr>
          <a:xfrm>
            <a:off x="812800" y="5334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>
                <a:solidFill>
                  <a:srgbClr val="BEBEB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软件工程实践  </a:t>
            </a:r>
            <a:r>
              <a:rPr lang="en-US" altLang="zh-CN" sz="1100">
                <a:solidFill>
                  <a:srgbClr val="BEBEB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 </a:t>
            </a:r>
            <a:r>
              <a:rPr lang="zh-CN" altLang="en-US" sz="1100">
                <a:solidFill>
                  <a:srgbClr val="BEBEB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项目十三  </a:t>
            </a:r>
            <a:r>
              <a:rPr lang="en-US" altLang="zh-CN" sz="1100">
                <a:solidFill>
                  <a:srgbClr val="BEBEB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 </a:t>
            </a:r>
            <a:r>
              <a:rPr lang="zh-CN" altLang="en-US" sz="1100">
                <a:solidFill>
                  <a:srgbClr val="BEBEB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开题答辩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EB6AB84-2132-44E4-B9E8-F46E362EA356}"/>
              </a:ext>
            </a:extLst>
          </p:cNvPr>
          <p:cNvCxnSpPr/>
          <p:nvPr/>
        </p:nvCxnSpPr>
        <p:spPr>
          <a:xfrm>
            <a:off x="812800" y="1041400"/>
            <a:ext cx="812800" cy="0"/>
          </a:xfrm>
          <a:prstGeom prst="line">
            <a:avLst/>
          </a:prstGeom>
          <a:ln w="25400">
            <a:solidFill>
              <a:srgbClr val="0E7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082FB389-0178-4F3D-90D6-08DAB352A763}"/>
              </a:ext>
            </a:extLst>
          </p:cNvPr>
          <p:cNvSpPr txBox="1"/>
          <p:nvPr/>
        </p:nvSpPr>
        <p:spPr>
          <a:xfrm>
            <a:off x="812800" y="14732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3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基于多智能体协同的
科研文献智能综述生成系统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6DB683-C27C-4C7E-99B9-515E70FC1A94}"/>
              </a:ext>
            </a:extLst>
          </p:cNvPr>
          <p:cNvSpPr txBox="1"/>
          <p:nvPr/>
        </p:nvSpPr>
        <p:spPr>
          <a:xfrm>
            <a:off x="838200" y="33655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>
                <a:solidFill>
                  <a:srgbClr val="D2D2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 review-agent v0.4：从 arXiv 全文到可溯源综述的端到端原型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FCCE3AF-BBE6-49C4-A1DB-88135930527A}"/>
              </a:ext>
            </a:extLst>
          </p:cNvPr>
          <p:cNvSpPr txBox="1"/>
          <p:nvPr/>
        </p:nvSpPr>
        <p:spPr>
          <a:xfrm>
            <a:off x="838200" y="4013200"/>
            <a:ext cx="749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5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已经跑通全文获取、读卡、对比、写作、校验与 </a:t>
            </a:r>
            <a:r>
              <a:rPr lang="en-US" altLang="zh-CN" sz="125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Web </a:t>
            </a:r>
            <a:r>
              <a:rPr lang="zh-CN" altLang="en-US" sz="125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阅读；仍有明确边界。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026C435-15B2-4C36-B5AF-205ACA713205}"/>
              </a:ext>
            </a:extLst>
          </p:cNvPr>
          <p:cNvSpPr/>
          <p:nvPr/>
        </p:nvSpPr>
        <p:spPr>
          <a:xfrm>
            <a:off x="838200" y="4546600"/>
            <a:ext cx="2235200" cy="355600"/>
          </a:xfrm>
          <a:prstGeom prst="roundRect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3C3D5-6C46-4117-9DBA-3437EF039CD1}"/>
              </a:ext>
            </a:extLst>
          </p:cNvPr>
          <p:cNvSpPr txBox="1"/>
          <p:nvPr/>
        </p:nvSpPr>
        <p:spPr>
          <a:xfrm>
            <a:off x="838200" y="4610100"/>
            <a:ext cx="223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9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当前版本  </a:t>
            </a:r>
            <a:r>
              <a:rPr lang="en-US" altLang="zh-CN" sz="9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 </a:t>
            </a:r>
            <a:r>
              <a:rPr lang="zh-CN" altLang="en-US" sz="9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可运行骨架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580DEB5-E5A1-4BA4-A642-89C2CE0DBDA3}"/>
              </a:ext>
            </a:extLst>
          </p:cNvPr>
          <p:cNvSpPr/>
          <p:nvPr/>
        </p:nvSpPr>
        <p:spPr>
          <a:xfrm>
            <a:off x="8991600" y="1549400"/>
            <a:ext cx="1041400" cy="1041400"/>
          </a:xfrm>
          <a:prstGeom prst="roundRect">
            <a:avLst/>
          </a:prstGeom>
          <a:noFill/>
          <a:ln w="15240" cap="flat" cmpd="sng" algn="ctr">
            <a:solidFill>
              <a:srgbClr val="696969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13FE9F0-6426-429B-B0FF-6FD67B97B119}"/>
              </a:ext>
            </a:extLst>
          </p:cNvPr>
          <p:cNvSpPr txBox="1"/>
          <p:nvPr/>
        </p:nvSpPr>
        <p:spPr>
          <a:xfrm>
            <a:off x="8991600" y="17018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2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D8B046-FD2E-44B2-B9E6-2BE4E1D5939A}"/>
              </a:ext>
            </a:extLst>
          </p:cNvPr>
          <p:cNvSpPr txBox="1"/>
          <p:nvPr/>
        </p:nvSpPr>
        <p:spPr>
          <a:xfrm>
            <a:off x="8991600" y="21717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90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检索论文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3CAB564-1D40-4087-B824-13496C431F89}"/>
              </a:ext>
            </a:extLst>
          </p:cNvPr>
          <p:cNvSpPr/>
          <p:nvPr/>
        </p:nvSpPr>
        <p:spPr>
          <a:xfrm>
            <a:off x="10236200" y="1549400"/>
            <a:ext cx="1041400" cy="1041400"/>
          </a:xfrm>
          <a:prstGeom prst="roundRect">
            <a:avLst/>
          </a:prstGeom>
          <a:noFill/>
          <a:ln w="15240" cap="flat" cmpd="sng" algn="ctr">
            <a:solidFill>
              <a:srgbClr val="696969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E044BD3-DAC1-4FC6-B5A9-0B33F48A4B6B}"/>
              </a:ext>
            </a:extLst>
          </p:cNvPr>
          <p:cNvSpPr txBox="1"/>
          <p:nvPr/>
        </p:nvSpPr>
        <p:spPr>
          <a:xfrm>
            <a:off x="10236200" y="17018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2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7ACE93D-FF45-40E1-A5B5-8F2C24417468}"/>
              </a:ext>
            </a:extLst>
          </p:cNvPr>
          <p:cNvSpPr txBox="1"/>
          <p:nvPr/>
        </p:nvSpPr>
        <p:spPr>
          <a:xfrm>
            <a:off x="10236200" y="21717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90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整理论据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6AF81F9-2695-42B1-9EBB-A826283FF81C}"/>
              </a:ext>
            </a:extLst>
          </p:cNvPr>
          <p:cNvSpPr/>
          <p:nvPr/>
        </p:nvSpPr>
        <p:spPr>
          <a:xfrm>
            <a:off x="8991600" y="2794000"/>
            <a:ext cx="1041400" cy="1041400"/>
          </a:xfrm>
          <a:prstGeom prst="roundRect">
            <a:avLst/>
          </a:prstGeom>
          <a:noFill/>
          <a:ln w="15240" cap="flat" cmpd="sng" algn="ctr">
            <a:solidFill>
              <a:srgbClr val="696969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73AD53C-EE41-4071-AD45-03DA1F1B7D51}"/>
              </a:ext>
            </a:extLst>
          </p:cNvPr>
          <p:cNvSpPr txBox="1"/>
          <p:nvPr/>
        </p:nvSpPr>
        <p:spPr>
          <a:xfrm>
            <a:off x="8991600" y="29464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2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7F90F04-D746-49B1-B824-A3DE4C5E6625}"/>
              </a:ext>
            </a:extLst>
          </p:cNvPr>
          <p:cNvSpPr txBox="1"/>
          <p:nvPr/>
        </p:nvSpPr>
        <p:spPr>
          <a:xfrm>
            <a:off x="8991600" y="34163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90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形成比较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E9F21A1-C7B3-4B81-A86C-B4EE7A5F327E}"/>
              </a:ext>
            </a:extLst>
          </p:cNvPr>
          <p:cNvSpPr/>
          <p:nvPr/>
        </p:nvSpPr>
        <p:spPr>
          <a:xfrm>
            <a:off x="10236200" y="2794000"/>
            <a:ext cx="1041400" cy="1041400"/>
          </a:xfrm>
          <a:prstGeom prst="roundRect">
            <a:avLst/>
          </a:prstGeom>
          <a:noFill/>
          <a:ln w="15240" cap="flat" cmpd="sng" algn="ctr">
            <a:solidFill>
              <a:srgbClr val="696969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9BDD251-6C24-4067-94C5-FC212F856405}"/>
              </a:ext>
            </a:extLst>
          </p:cNvPr>
          <p:cNvSpPr txBox="1"/>
          <p:nvPr/>
        </p:nvSpPr>
        <p:spPr>
          <a:xfrm>
            <a:off x="10236200" y="29464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2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写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BC9E370-E119-4B24-A05D-DF6E85042C16}"/>
              </a:ext>
            </a:extLst>
          </p:cNvPr>
          <p:cNvSpPr txBox="1"/>
          <p:nvPr/>
        </p:nvSpPr>
        <p:spPr>
          <a:xfrm>
            <a:off x="10236200" y="34163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90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组织成稿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B3222C4-403D-4817-959D-52576370AA6D}"/>
              </a:ext>
            </a:extLst>
          </p:cNvPr>
          <p:cNvCxnSpPr/>
          <p:nvPr/>
        </p:nvCxnSpPr>
        <p:spPr>
          <a:xfrm>
            <a:off x="812800" y="5181600"/>
            <a:ext cx="10566400" cy="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D4AF5059-1D46-4A8A-8F41-F912D6024E90}"/>
              </a:ext>
            </a:extLst>
          </p:cNvPr>
          <p:cNvSpPr txBox="1"/>
          <p:nvPr/>
        </p:nvSpPr>
        <p:spPr>
          <a:xfrm>
            <a:off x="838200" y="5524500"/>
            <a:ext cx="558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团队成员：待填写  </a:t>
            </a:r>
            <a:r>
              <a:rPr lang="en-US" altLang="zh-CN" sz="120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</a:t>
            </a:r>
            <a:r>
              <a:rPr lang="zh-CN" altLang="en-US" sz="120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待填写
指导教师：待填写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9A56FF8-2851-4CA1-B9C9-2AD27BC1AC78}"/>
              </a:ext>
            </a:extLst>
          </p:cNvPr>
          <p:cNvSpPr txBox="1"/>
          <p:nvPr/>
        </p:nvSpPr>
        <p:spPr>
          <a:xfrm>
            <a:off x="9144000" y="5816600"/>
            <a:ext cx="223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100">
                <a:solidFill>
                  <a:srgbClr val="A0A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 </a:t>
            </a:r>
            <a:r>
              <a:rPr lang="zh-CN" altLang="en-US" sz="1100">
                <a:solidFill>
                  <a:srgbClr val="A0A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en-US" altLang="zh-CN" sz="1100">
                <a:solidFill>
                  <a:srgbClr val="A0A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</a:t>
            </a:r>
            <a:r>
              <a:rPr lang="zh-CN" altLang="en-US" sz="1100">
                <a:solidFill>
                  <a:srgbClr val="A0A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2755685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133A759-4322-4203-941B-54F6E7D4FEA5}"/>
              </a:ext>
            </a:extLst>
          </p:cNvPr>
          <p:cNvSpPr txBox="1"/>
          <p:nvPr/>
        </p:nvSpPr>
        <p:spPr>
          <a:xfrm>
            <a:off x="711200" y="2794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 /  </a:t>
            </a:r>
            <a:r>
              <a:rPr lang="zh-CN" altLang="en-US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从真实场景出发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44997F-9E12-4A36-98F7-0A8930D8251A}"/>
              </a:ext>
            </a:extLst>
          </p:cNvPr>
          <p:cNvSpPr txBox="1"/>
          <p:nvPr/>
        </p:nvSpPr>
        <p:spPr>
          <a:xfrm>
            <a:off x="711200" y="5715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7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一个研究方向，为什么常常越看越乱？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9C6A59-0EA6-4485-8298-718F8B1883E2}"/>
              </a:ext>
            </a:extLst>
          </p:cNvPr>
          <p:cNvSpPr txBox="1"/>
          <p:nvPr/>
        </p:nvSpPr>
        <p:spPr>
          <a:xfrm>
            <a:off x="711200" y="12192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真正耗时的是理解与组织，不只是最后那段写作。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8C54CE5-6ADE-4D84-A689-F5A5E864E7A6}"/>
              </a:ext>
            </a:extLst>
          </p:cNvPr>
          <p:cNvCxnSpPr/>
          <p:nvPr/>
        </p:nvCxnSpPr>
        <p:spPr>
          <a:xfrm>
            <a:off x="711200" y="1612900"/>
            <a:ext cx="10769600" cy="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849067A-5E2F-460C-878C-4DB50EBF8B1D}"/>
              </a:ext>
            </a:extLst>
          </p:cNvPr>
          <p:cNvCxnSpPr/>
          <p:nvPr/>
        </p:nvCxnSpPr>
        <p:spPr>
          <a:xfrm>
            <a:off x="711200" y="1612900"/>
            <a:ext cx="838200" cy="0"/>
          </a:xfrm>
          <a:prstGeom prst="line">
            <a:avLst/>
          </a:prstGeom>
          <a:ln w="25400">
            <a:solidFill>
              <a:srgbClr val="0E7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9B384D0-5F3A-44F0-8D35-6E06874433EF}"/>
              </a:ext>
            </a:extLst>
          </p:cNvPr>
          <p:cNvCxnSpPr/>
          <p:nvPr/>
        </p:nvCxnSpPr>
        <p:spPr>
          <a:xfrm>
            <a:off x="711200" y="6502400"/>
            <a:ext cx="10769600" cy="0"/>
          </a:xfrm>
          <a:prstGeom prst="line">
            <a:avLst/>
          </a:prstGeom>
          <a:ln w="889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63490E16-9284-46DB-B65C-57CD8C7FB975}"/>
              </a:ext>
            </a:extLst>
          </p:cNvPr>
          <p:cNvSpPr txBox="1"/>
          <p:nvPr/>
        </p:nvSpPr>
        <p:spPr>
          <a:xfrm>
            <a:off x="711200" y="66040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8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基于多智能体协同的科研文献智能综述生成系统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23C2DDF-DCAC-4106-833A-6A162C5C5BA5}"/>
              </a:ext>
            </a:extLst>
          </p:cNvPr>
          <p:cNvSpPr txBox="1"/>
          <p:nvPr/>
        </p:nvSpPr>
        <p:spPr>
          <a:xfrm>
            <a:off x="10998200" y="6604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8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800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4ABB14D-E138-4703-9AE2-E90B7105829F}"/>
              </a:ext>
            </a:extLst>
          </p:cNvPr>
          <p:cNvSpPr/>
          <p:nvPr/>
        </p:nvSpPr>
        <p:spPr>
          <a:xfrm>
            <a:off x="711200" y="2006600"/>
            <a:ext cx="25400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4407B76-590A-4FF2-9FFF-A6E03DE77128}"/>
              </a:ext>
            </a:extLst>
          </p:cNvPr>
          <p:cNvSpPr txBox="1"/>
          <p:nvPr/>
        </p:nvSpPr>
        <p:spPr>
          <a:xfrm>
            <a:off x="939800" y="2235200"/>
            <a:ext cx="63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 b="1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1000" b="1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9C32481-C001-457C-BB15-CA6066AC90BA}"/>
              </a:ext>
            </a:extLst>
          </p:cNvPr>
          <p:cNvSpPr txBox="1"/>
          <p:nvPr/>
        </p:nvSpPr>
        <p:spPr>
          <a:xfrm>
            <a:off x="939800" y="2641600"/>
            <a:ext cx="208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0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找论文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E36F1D6-5FB5-4D62-AFCF-5F967A53D63F}"/>
              </a:ext>
            </a:extLst>
          </p:cNvPr>
          <p:cNvCxnSpPr/>
          <p:nvPr/>
        </p:nvCxnSpPr>
        <p:spPr>
          <a:xfrm>
            <a:off x="939800" y="3175000"/>
            <a:ext cx="2082800" cy="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1E963AC-9650-4000-B3FD-BFC86FBAEBE0}"/>
              </a:ext>
            </a:extLst>
          </p:cNvPr>
          <p:cNvSpPr txBox="1"/>
          <p:nvPr/>
        </p:nvSpPr>
        <p:spPr>
          <a:xfrm>
            <a:off x="939800" y="3454400"/>
            <a:ext cx="208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关键词越换越多，
却还是担心漏掉重要工作。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1EEF227-99F0-4C89-ADCB-8B7818E4E537}"/>
              </a:ext>
            </a:extLst>
          </p:cNvPr>
          <p:cNvSpPr/>
          <p:nvPr/>
        </p:nvSpPr>
        <p:spPr>
          <a:xfrm>
            <a:off x="3441700" y="2006600"/>
            <a:ext cx="25400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2CDB561-1AFA-4ED0-AC75-BF1EBC23DBC8}"/>
              </a:ext>
            </a:extLst>
          </p:cNvPr>
          <p:cNvSpPr txBox="1"/>
          <p:nvPr/>
        </p:nvSpPr>
        <p:spPr>
          <a:xfrm>
            <a:off x="3670300" y="2235200"/>
            <a:ext cx="63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 b="1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000" b="1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4C7EAC3-A67D-4A9A-A235-ABDE44094BE4}"/>
              </a:ext>
            </a:extLst>
          </p:cNvPr>
          <p:cNvSpPr txBox="1"/>
          <p:nvPr/>
        </p:nvSpPr>
        <p:spPr>
          <a:xfrm>
            <a:off x="3670300" y="2641600"/>
            <a:ext cx="208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0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读论文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A8B6059-C63D-4B5A-9F35-0AF761110C12}"/>
              </a:ext>
            </a:extLst>
          </p:cNvPr>
          <p:cNvCxnSpPr/>
          <p:nvPr/>
        </p:nvCxnSpPr>
        <p:spPr>
          <a:xfrm>
            <a:off x="3670300" y="3175000"/>
            <a:ext cx="2082800" cy="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BAD8F8B2-0EA7-4DC7-BD3E-94EE9FB3C7AF}"/>
              </a:ext>
            </a:extLst>
          </p:cNvPr>
          <p:cNvSpPr txBox="1"/>
          <p:nvPr/>
        </p:nvSpPr>
        <p:spPr>
          <a:xfrm>
            <a:off x="3670300" y="3454400"/>
            <a:ext cx="208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摘要都看过一遍，
方法和实验条件却记混在一起。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4BA86D5-573F-4356-BBFB-1D13B2BFC18F}"/>
              </a:ext>
            </a:extLst>
          </p:cNvPr>
          <p:cNvSpPr/>
          <p:nvPr/>
        </p:nvSpPr>
        <p:spPr>
          <a:xfrm>
            <a:off x="6172200" y="2006600"/>
            <a:ext cx="25400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756E9BB-0032-4AA6-B94E-2F993774C537}"/>
              </a:ext>
            </a:extLst>
          </p:cNvPr>
          <p:cNvSpPr txBox="1"/>
          <p:nvPr/>
        </p:nvSpPr>
        <p:spPr>
          <a:xfrm>
            <a:off x="6400800" y="2235200"/>
            <a:ext cx="63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 b="1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000" b="1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1E07F36-0DBF-43D8-9466-31A4C757A635}"/>
              </a:ext>
            </a:extLst>
          </p:cNvPr>
          <p:cNvSpPr txBox="1"/>
          <p:nvPr/>
        </p:nvSpPr>
        <p:spPr>
          <a:xfrm>
            <a:off x="6400800" y="2641600"/>
            <a:ext cx="208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0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做比较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68E7155-3319-4737-AA93-57DB1882CD1F}"/>
              </a:ext>
            </a:extLst>
          </p:cNvPr>
          <p:cNvCxnSpPr/>
          <p:nvPr/>
        </p:nvCxnSpPr>
        <p:spPr>
          <a:xfrm>
            <a:off x="6400800" y="3175000"/>
            <a:ext cx="2082800" cy="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76B965A0-8A58-4583-B24B-AD0A3FC0A239}"/>
              </a:ext>
            </a:extLst>
          </p:cNvPr>
          <p:cNvSpPr txBox="1"/>
          <p:nvPr/>
        </p:nvSpPr>
        <p:spPr>
          <a:xfrm>
            <a:off x="6400800" y="3454400"/>
            <a:ext cx="208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每篇论文都有道理，
但谁继承了谁、差异在哪很难理清。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20E21E5-36AB-4450-B2DD-21BDD2E2C77F}"/>
              </a:ext>
            </a:extLst>
          </p:cNvPr>
          <p:cNvSpPr/>
          <p:nvPr/>
        </p:nvSpPr>
        <p:spPr>
          <a:xfrm>
            <a:off x="8902700" y="2006600"/>
            <a:ext cx="25400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49E276B-D301-45CD-B185-AC47C7DA1CCD}"/>
              </a:ext>
            </a:extLst>
          </p:cNvPr>
          <p:cNvSpPr txBox="1"/>
          <p:nvPr/>
        </p:nvSpPr>
        <p:spPr>
          <a:xfrm>
            <a:off x="9131300" y="2235200"/>
            <a:ext cx="63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 b="1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1000" b="1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F4A7ECF-B7C6-489E-AC92-7C5527089302}"/>
              </a:ext>
            </a:extLst>
          </p:cNvPr>
          <p:cNvSpPr txBox="1"/>
          <p:nvPr/>
        </p:nvSpPr>
        <p:spPr>
          <a:xfrm>
            <a:off x="9131300" y="2641600"/>
            <a:ext cx="208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0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写综述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18E0BC39-76C0-4E8C-AF9E-0FD039BDFBDA}"/>
              </a:ext>
            </a:extLst>
          </p:cNvPr>
          <p:cNvCxnSpPr/>
          <p:nvPr/>
        </p:nvCxnSpPr>
        <p:spPr>
          <a:xfrm>
            <a:off x="9131300" y="3175000"/>
            <a:ext cx="2082800" cy="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DCFAAAF8-A74C-494A-BD1A-F849B42A1A25}"/>
              </a:ext>
            </a:extLst>
          </p:cNvPr>
          <p:cNvSpPr txBox="1"/>
          <p:nvPr/>
        </p:nvSpPr>
        <p:spPr>
          <a:xfrm>
            <a:off x="9131300" y="3454400"/>
            <a:ext cx="208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开始写作时又回到原文，
重新寻找已经读过的证据。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B6C41D92-90D4-4058-BA03-BF9BA79AFEC1}"/>
              </a:ext>
            </a:extLst>
          </p:cNvPr>
          <p:cNvSpPr/>
          <p:nvPr/>
        </p:nvSpPr>
        <p:spPr>
          <a:xfrm>
            <a:off x="711200" y="5334000"/>
            <a:ext cx="10769600" cy="736600"/>
          </a:xfrm>
          <a:prstGeom prst="roundRect">
            <a:avLst/>
          </a:prstGeom>
          <a:solidFill>
            <a:srgbClr val="F0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7748553-A70D-406A-8136-2ECF9735D235}"/>
              </a:ext>
            </a:extLst>
          </p:cNvPr>
          <p:cNvSpPr txBox="1"/>
          <p:nvPr/>
        </p:nvSpPr>
        <p:spPr>
          <a:xfrm>
            <a:off x="990600" y="5524500"/>
            <a:ext cx="1021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5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因此，我们想做的不是“替人多写几段字”，而是把找、读、比、写连成一条可检查的过程。</a:t>
            </a:r>
          </a:p>
        </p:txBody>
      </p:sp>
    </p:spTree>
    <p:extLst>
      <p:ext uri="{BB962C8B-B14F-4D97-AF65-F5344CB8AC3E}">
        <p14:creationId xmlns:p14="http://schemas.microsoft.com/office/powerpoint/2010/main" val="2300809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D3A42DD-0A66-4260-BF72-6BFEFDFEE547}"/>
              </a:ext>
            </a:extLst>
          </p:cNvPr>
          <p:cNvSpPr txBox="1"/>
          <p:nvPr/>
        </p:nvSpPr>
        <p:spPr>
          <a:xfrm>
            <a:off x="711200" y="2794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 /  </a:t>
            </a:r>
            <a:r>
              <a:rPr lang="zh-CN" altLang="en-US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项目目标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89F2EA-6EA7-403D-973D-9947855DE649}"/>
              </a:ext>
            </a:extLst>
          </p:cNvPr>
          <p:cNvSpPr txBox="1"/>
          <p:nvPr/>
        </p:nvSpPr>
        <p:spPr>
          <a:xfrm>
            <a:off x="711200" y="5715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7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输入一个研究问题，得到一份有依据的综述初稿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6270960-C3E2-484D-BFD8-BBD271454E68}"/>
              </a:ext>
            </a:extLst>
          </p:cNvPr>
          <p:cNvSpPr txBox="1"/>
          <p:nvPr/>
        </p:nvSpPr>
        <p:spPr>
          <a:xfrm>
            <a:off x="711200" y="12192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输出既包括正文，也包括论文清单、分析过程和可回看的引用。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0205F3B-3E4D-49BB-B532-53920C6A5E98}"/>
              </a:ext>
            </a:extLst>
          </p:cNvPr>
          <p:cNvCxnSpPr/>
          <p:nvPr/>
        </p:nvCxnSpPr>
        <p:spPr>
          <a:xfrm>
            <a:off x="711200" y="1612900"/>
            <a:ext cx="10769600" cy="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2A0BDFB-166A-4022-A5A2-6891FC959D72}"/>
              </a:ext>
            </a:extLst>
          </p:cNvPr>
          <p:cNvCxnSpPr/>
          <p:nvPr/>
        </p:nvCxnSpPr>
        <p:spPr>
          <a:xfrm>
            <a:off x="711200" y="1612900"/>
            <a:ext cx="838200" cy="0"/>
          </a:xfrm>
          <a:prstGeom prst="line">
            <a:avLst/>
          </a:prstGeom>
          <a:ln w="25400">
            <a:solidFill>
              <a:srgbClr val="0E7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630B3BA-E2CB-41C7-96AA-CFC26FE1CA5D}"/>
              </a:ext>
            </a:extLst>
          </p:cNvPr>
          <p:cNvCxnSpPr/>
          <p:nvPr/>
        </p:nvCxnSpPr>
        <p:spPr>
          <a:xfrm>
            <a:off x="711200" y="6502400"/>
            <a:ext cx="10769600" cy="0"/>
          </a:xfrm>
          <a:prstGeom prst="line">
            <a:avLst/>
          </a:prstGeom>
          <a:ln w="889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13DE488-59C9-4B1A-8D26-FD1BB1FDE6BC}"/>
              </a:ext>
            </a:extLst>
          </p:cNvPr>
          <p:cNvSpPr txBox="1"/>
          <p:nvPr/>
        </p:nvSpPr>
        <p:spPr>
          <a:xfrm>
            <a:off x="711200" y="66040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8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基于多智能体协同的科研文献智能综述生成系统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456923-9F1B-4F78-A5BE-04094577FDCA}"/>
              </a:ext>
            </a:extLst>
          </p:cNvPr>
          <p:cNvSpPr txBox="1"/>
          <p:nvPr/>
        </p:nvSpPr>
        <p:spPr>
          <a:xfrm>
            <a:off x="10998200" y="6604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8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800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1ED5744-61F5-43F9-9491-ED287CF903B8}"/>
              </a:ext>
            </a:extLst>
          </p:cNvPr>
          <p:cNvSpPr/>
          <p:nvPr/>
        </p:nvSpPr>
        <p:spPr>
          <a:xfrm>
            <a:off x="711200" y="1905000"/>
            <a:ext cx="4953000" cy="3149600"/>
          </a:xfrm>
          <a:prstGeom prst="roundRect">
            <a:avLst/>
          </a:prstGeom>
          <a:solidFill>
            <a:srgbClr val="142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DB071DD-0B8B-4710-8180-61DB4EE9A48E}"/>
              </a:ext>
            </a:extLst>
          </p:cNvPr>
          <p:cNvSpPr txBox="1"/>
          <p:nvPr/>
        </p:nvSpPr>
        <p:spPr>
          <a:xfrm>
            <a:off x="1016000" y="22098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 b="1">
                <a:solidFill>
                  <a:srgbClr val="BEBEB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用户这样提问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005E08F-9666-4E2F-877C-C0BAC55048F4}"/>
              </a:ext>
            </a:extLst>
          </p:cNvPr>
          <p:cNvSpPr txBox="1"/>
          <p:nvPr/>
        </p:nvSpPr>
        <p:spPr>
          <a:xfrm>
            <a:off x="1016000" y="27432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“请梳理近三年检索增强生成在长上下文场景中的主要方法、技术演进和未解决问题。”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6F41BD6-73AF-497D-B687-5917CBACB46D}"/>
              </a:ext>
            </a:extLst>
          </p:cNvPr>
          <p:cNvSpPr txBox="1"/>
          <p:nvPr/>
        </p:nvSpPr>
        <p:spPr>
          <a:xfrm>
            <a:off x="1016000" y="44196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>
                <a:solidFill>
                  <a:srgbClr val="BEBEB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自然语言输入，不限定固定检索式。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06D5DCA-CA3C-4142-B618-464AA4035801}"/>
              </a:ext>
            </a:extLst>
          </p:cNvPr>
          <p:cNvSpPr txBox="1"/>
          <p:nvPr/>
        </p:nvSpPr>
        <p:spPr>
          <a:xfrm>
            <a:off x="6197600" y="19304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系统输出五个部分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27D6EF0E-FA5C-44BE-8486-1BA5471C4C61}"/>
              </a:ext>
            </a:extLst>
          </p:cNvPr>
          <p:cNvSpPr/>
          <p:nvPr/>
        </p:nvSpPr>
        <p:spPr>
          <a:xfrm>
            <a:off x="6197600" y="2489200"/>
            <a:ext cx="304800" cy="304800"/>
          </a:xfrm>
          <a:prstGeom prst="ellipse">
            <a:avLst/>
          </a:prstGeom>
          <a:solidFill>
            <a:srgbClr val="F0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8F6FA50-01F6-40B5-ACD1-5CEF42032201}"/>
              </a:ext>
            </a:extLst>
          </p:cNvPr>
          <p:cNvSpPr txBox="1"/>
          <p:nvPr/>
        </p:nvSpPr>
        <p:spPr>
          <a:xfrm>
            <a:off x="6197600" y="2501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100" b="1">
              <a:solidFill>
                <a:srgbClr val="1423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1D77D94-46D8-4161-A20B-A4CE9EAFCC8A}"/>
              </a:ext>
            </a:extLst>
          </p:cNvPr>
          <p:cNvSpPr txBox="1"/>
          <p:nvPr/>
        </p:nvSpPr>
        <p:spPr>
          <a:xfrm>
            <a:off x="6680200" y="25146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 b="1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研究背景与问题定义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3B65A20-F3FE-4DC9-8344-45BB65529FB7}"/>
              </a:ext>
            </a:extLst>
          </p:cNvPr>
          <p:cNvSpPr/>
          <p:nvPr/>
        </p:nvSpPr>
        <p:spPr>
          <a:xfrm>
            <a:off x="6197600" y="3035300"/>
            <a:ext cx="304800" cy="304800"/>
          </a:xfrm>
          <a:prstGeom prst="ellipse">
            <a:avLst/>
          </a:prstGeom>
          <a:solidFill>
            <a:srgbClr val="F0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ED5DC5C-3778-43B1-91FB-586CE5330D75}"/>
              </a:ext>
            </a:extLst>
          </p:cNvPr>
          <p:cNvSpPr txBox="1"/>
          <p:nvPr/>
        </p:nvSpPr>
        <p:spPr>
          <a:xfrm>
            <a:off x="6197600" y="30480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100" b="1">
              <a:solidFill>
                <a:srgbClr val="1423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62224E8-9389-42FA-8EEE-6736D872B58C}"/>
              </a:ext>
            </a:extLst>
          </p:cNvPr>
          <p:cNvSpPr txBox="1"/>
          <p:nvPr/>
        </p:nvSpPr>
        <p:spPr>
          <a:xfrm>
            <a:off x="6680200" y="30607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主流方法分类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4B506C42-4643-4315-8F19-A19221F15BCA}"/>
              </a:ext>
            </a:extLst>
          </p:cNvPr>
          <p:cNvSpPr/>
          <p:nvPr/>
        </p:nvSpPr>
        <p:spPr>
          <a:xfrm>
            <a:off x="6197600" y="3581400"/>
            <a:ext cx="304800" cy="304800"/>
          </a:xfrm>
          <a:prstGeom prst="ellipse">
            <a:avLst/>
          </a:prstGeom>
          <a:solidFill>
            <a:srgbClr val="F0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C4EC34-74B9-4208-AAFE-0C793C6ADBA5}"/>
              </a:ext>
            </a:extLst>
          </p:cNvPr>
          <p:cNvSpPr txBox="1"/>
          <p:nvPr/>
        </p:nvSpPr>
        <p:spPr>
          <a:xfrm>
            <a:off x="6197600" y="35941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100" b="1">
              <a:solidFill>
                <a:srgbClr val="1423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252DFD5-1CD6-45DF-959B-EA87A34D45DD}"/>
              </a:ext>
            </a:extLst>
          </p:cNvPr>
          <p:cNvSpPr txBox="1"/>
          <p:nvPr/>
        </p:nvSpPr>
        <p:spPr>
          <a:xfrm>
            <a:off x="6680200" y="3606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技术演进与代表工作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B6E1CEBA-7856-4684-B27A-32CB7023E170}"/>
              </a:ext>
            </a:extLst>
          </p:cNvPr>
          <p:cNvSpPr/>
          <p:nvPr/>
        </p:nvSpPr>
        <p:spPr>
          <a:xfrm>
            <a:off x="6197600" y="4127500"/>
            <a:ext cx="304800" cy="304800"/>
          </a:xfrm>
          <a:prstGeom prst="ellipse">
            <a:avLst/>
          </a:prstGeom>
          <a:solidFill>
            <a:srgbClr val="F0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54A7E33-BEFC-4E18-A3D3-7469E4063DD0}"/>
              </a:ext>
            </a:extLst>
          </p:cNvPr>
          <p:cNvSpPr txBox="1"/>
          <p:nvPr/>
        </p:nvSpPr>
        <p:spPr>
          <a:xfrm>
            <a:off x="6197600" y="41402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100" b="1">
              <a:solidFill>
                <a:srgbClr val="1423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28C62FF-CBE9-49A4-964F-858C05A313EB}"/>
              </a:ext>
            </a:extLst>
          </p:cNvPr>
          <p:cNvSpPr txBox="1"/>
          <p:nvPr/>
        </p:nvSpPr>
        <p:spPr>
          <a:xfrm>
            <a:off x="6680200" y="41529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实验结果与争议讨论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56AC35D1-27EE-4109-81D8-D59CBB47E136}"/>
              </a:ext>
            </a:extLst>
          </p:cNvPr>
          <p:cNvSpPr/>
          <p:nvPr/>
        </p:nvSpPr>
        <p:spPr>
          <a:xfrm>
            <a:off x="6197600" y="4673600"/>
            <a:ext cx="304800" cy="304800"/>
          </a:xfrm>
          <a:prstGeom prst="ellipse">
            <a:avLst/>
          </a:prstGeom>
          <a:solidFill>
            <a:srgbClr val="F0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CF683F2-66B2-437B-95D2-E4A4DC3C6F5A}"/>
              </a:ext>
            </a:extLst>
          </p:cNvPr>
          <p:cNvSpPr txBox="1"/>
          <p:nvPr/>
        </p:nvSpPr>
        <p:spPr>
          <a:xfrm>
            <a:off x="6197600" y="46863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1100" b="1">
              <a:solidFill>
                <a:srgbClr val="1423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CB53520-355C-4FAB-BEDC-C105BD15C682}"/>
              </a:ext>
            </a:extLst>
          </p:cNvPr>
          <p:cNvSpPr txBox="1"/>
          <p:nvPr/>
        </p:nvSpPr>
        <p:spPr>
          <a:xfrm>
            <a:off x="6680200" y="46990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未解决问题与研究方向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7F41D7EF-F805-4BA5-9BD0-3F207B317AED}"/>
              </a:ext>
            </a:extLst>
          </p:cNvPr>
          <p:cNvSpPr/>
          <p:nvPr/>
        </p:nvSpPr>
        <p:spPr>
          <a:xfrm>
            <a:off x="711200" y="5397500"/>
            <a:ext cx="10769600" cy="673100"/>
          </a:xfrm>
          <a:prstGeom prst="roundRect">
            <a:avLst/>
          </a:prstGeom>
          <a:solidFill>
            <a:srgbClr val="F0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3CCBD11-38CD-47B4-B547-5212B88F0F20}"/>
              </a:ext>
            </a:extLst>
          </p:cNvPr>
          <p:cNvSpPr txBox="1"/>
          <p:nvPr/>
        </p:nvSpPr>
        <p:spPr>
          <a:xfrm>
            <a:off x="965200" y="5575300"/>
            <a:ext cx="1026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当前定位：端到端原型已经跑通；事实性陈述绑定证据，阅读范围已扩展到论文全文（四级回退，失败回落摘要）。</a:t>
            </a:r>
          </a:p>
        </p:txBody>
      </p:sp>
    </p:spTree>
    <p:extLst>
      <p:ext uri="{BB962C8B-B14F-4D97-AF65-F5344CB8AC3E}">
        <p14:creationId xmlns:p14="http://schemas.microsoft.com/office/powerpoint/2010/main" val="3387697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49E61E5-4F9E-4BDF-91FA-0BFC81104B46}"/>
              </a:ext>
            </a:extLst>
          </p:cNvPr>
          <p:cNvSpPr txBox="1"/>
          <p:nvPr/>
        </p:nvSpPr>
        <p:spPr>
          <a:xfrm>
            <a:off x="711200" y="2794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 /  </a:t>
            </a:r>
            <a:r>
              <a:rPr lang="zh-CN" altLang="en-US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总体设计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0E78A4B-4E55-4019-9E02-CBAFDA03809C}"/>
              </a:ext>
            </a:extLst>
          </p:cNvPr>
          <p:cNvSpPr txBox="1"/>
          <p:nvPr/>
        </p:nvSpPr>
        <p:spPr>
          <a:xfrm>
            <a:off x="711200" y="5715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7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系统模块框架：对照项目里的真实代码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983136D-7454-416B-AE7C-70883CFB5DEF}"/>
              </a:ext>
            </a:extLst>
          </p:cNvPr>
          <p:cNvSpPr txBox="1"/>
          <p:nvPr/>
        </p:nvSpPr>
        <p:spPr>
          <a:xfrm>
            <a:off x="711200" y="12192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标准库 </a:t>
            </a:r>
            <a:r>
              <a:rPr lang="en-US" altLang="zh-CN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Web + SSE </a:t>
            </a:r>
            <a:r>
              <a:rPr lang="zh-CN" altLang="en-US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负责交互，</a:t>
            </a:r>
            <a:r>
              <a:rPr lang="en-US" altLang="zh-CN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LangGraph </a:t>
            </a:r>
            <a:r>
              <a:rPr lang="zh-CN" altLang="en-US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负责协同，五个角色围绕 </a:t>
            </a:r>
            <a:r>
              <a:rPr lang="en-US" altLang="zh-CN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ReviewState </a:t>
            </a:r>
            <a:r>
              <a:rPr lang="zh-CN" altLang="en-US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与证据库合作。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2045112-CF13-420D-8980-28A9389D89E1}"/>
              </a:ext>
            </a:extLst>
          </p:cNvPr>
          <p:cNvCxnSpPr/>
          <p:nvPr/>
        </p:nvCxnSpPr>
        <p:spPr>
          <a:xfrm>
            <a:off x="711200" y="1612900"/>
            <a:ext cx="10769600" cy="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AA1D6EC-C841-477B-89DC-73DC102AC713}"/>
              </a:ext>
            </a:extLst>
          </p:cNvPr>
          <p:cNvCxnSpPr/>
          <p:nvPr/>
        </p:nvCxnSpPr>
        <p:spPr>
          <a:xfrm>
            <a:off x="711200" y="1612900"/>
            <a:ext cx="838200" cy="0"/>
          </a:xfrm>
          <a:prstGeom prst="line">
            <a:avLst/>
          </a:prstGeom>
          <a:ln w="25400">
            <a:solidFill>
              <a:srgbClr val="0E7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940647C-C1A1-489C-9854-0FB9E9217280}"/>
              </a:ext>
            </a:extLst>
          </p:cNvPr>
          <p:cNvCxnSpPr/>
          <p:nvPr/>
        </p:nvCxnSpPr>
        <p:spPr>
          <a:xfrm>
            <a:off x="711200" y="6502400"/>
            <a:ext cx="10769600" cy="0"/>
          </a:xfrm>
          <a:prstGeom prst="line">
            <a:avLst/>
          </a:prstGeom>
          <a:ln w="889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6945B0E-DE6D-4971-A36E-02B05DDA47DA}"/>
              </a:ext>
            </a:extLst>
          </p:cNvPr>
          <p:cNvSpPr txBox="1"/>
          <p:nvPr/>
        </p:nvSpPr>
        <p:spPr>
          <a:xfrm>
            <a:off x="711200" y="66040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8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基于多智能体协同的科研文献智能综述生成系统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967809-6483-42C3-B0CD-1E3C5A8669FF}"/>
              </a:ext>
            </a:extLst>
          </p:cNvPr>
          <p:cNvSpPr txBox="1"/>
          <p:nvPr/>
        </p:nvSpPr>
        <p:spPr>
          <a:xfrm>
            <a:off x="10998200" y="6604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8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800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449F61B-38F5-47C3-9A93-2A78B42AA4AC}"/>
              </a:ext>
            </a:extLst>
          </p:cNvPr>
          <p:cNvSpPr/>
          <p:nvPr/>
        </p:nvSpPr>
        <p:spPr>
          <a:xfrm>
            <a:off x="711200" y="1879600"/>
            <a:ext cx="107696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813B58E-9E8A-4A5F-B5D1-C290AD2502D5}"/>
              </a:ext>
            </a:extLst>
          </p:cNvPr>
          <p:cNvSpPr txBox="1"/>
          <p:nvPr/>
        </p:nvSpPr>
        <p:spPr>
          <a:xfrm>
            <a:off x="939800" y="21082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Web </a:t>
            </a:r>
            <a:r>
              <a:rPr lang="zh-CN" altLang="en-US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交互层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990814F-F5AA-4646-AB95-C53742AD6033}"/>
              </a:ext>
            </a:extLst>
          </p:cNvPr>
          <p:cNvCxnSpPr/>
          <p:nvPr/>
        </p:nvCxnSpPr>
        <p:spPr>
          <a:xfrm>
            <a:off x="2641600" y="2032000"/>
            <a:ext cx="0" cy="48260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42F49D7-0388-425F-BFBF-576BF54C7962}"/>
              </a:ext>
            </a:extLst>
          </p:cNvPr>
          <p:cNvSpPr/>
          <p:nvPr/>
        </p:nvSpPr>
        <p:spPr>
          <a:xfrm>
            <a:off x="711200" y="2819400"/>
            <a:ext cx="10769600" cy="787400"/>
          </a:xfrm>
          <a:prstGeom prst="roundRect">
            <a:avLst/>
          </a:prstGeom>
          <a:solidFill>
            <a:srgbClr val="F0F4F7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222757E-5189-48C5-9225-416A0CB7E13D}"/>
              </a:ext>
            </a:extLst>
          </p:cNvPr>
          <p:cNvSpPr txBox="1"/>
          <p:nvPr/>
        </p:nvSpPr>
        <p:spPr>
          <a:xfrm>
            <a:off x="939800" y="30480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协同编排层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DC4DF67-2873-4EC6-958B-AA3B7DE94C5F}"/>
              </a:ext>
            </a:extLst>
          </p:cNvPr>
          <p:cNvCxnSpPr/>
          <p:nvPr/>
        </p:nvCxnSpPr>
        <p:spPr>
          <a:xfrm>
            <a:off x="2641600" y="2971800"/>
            <a:ext cx="0" cy="48260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C542175-BE59-42FC-923E-C7818966403C}"/>
              </a:ext>
            </a:extLst>
          </p:cNvPr>
          <p:cNvSpPr/>
          <p:nvPr/>
        </p:nvSpPr>
        <p:spPr>
          <a:xfrm>
            <a:off x="711200" y="3759200"/>
            <a:ext cx="1076960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65820C2-8671-4C20-AE2F-530A92A692C0}"/>
              </a:ext>
            </a:extLst>
          </p:cNvPr>
          <p:cNvSpPr txBox="1"/>
          <p:nvPr/>
        </p:nvSpPr>
        <p:spPr>
          <a:xfrm>
            <a:off x="939800" y="39878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智能体能力层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CE895EA-645C-4788-A5D6-C35B04E44703}"/>
              </a:ext>
            </a:extLst>
          </p:cNvPr>
          <p:cNvCxnSpPr/>
          <p:nvPr/>
        </p:nvCxnSpPr>
        <p:spPr>
          <a:xfrm>
            <a:off x="2641600" y="3911600"/>
            <a:ext cx="0" cy="71120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9E3E8C1-5989-487F-8AF9-BDF7A2E11AD9}"/>
              </a:ext>
            </a:extLst>
          </p:cNvPr>
          <p:cNvSpPr/>
          <p:nvPr/>
        </p:nvSpPr>
        <p:spPr>
          <a:xfrm>
            <a:off x="711200" y="4927600"/>
            <a:ext cx="10769600" cy="1092200"/>
          </a:xfrm>
          <a:prstGeom prst="roundRect">
            <a:avLst/>
          </a:prstGeom>
          <a:solidFill>
            <a:srgbClr val="F0F4F7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7C830BE-E1AF-49B7-86FF-35E3703BF2BE}"/>
              </a:ext>
            </a:extLst>
          </p:cNvPr>
          <p:cNvSpPr txBox="1"/>
          <p:nvPr/>
        </p:nvSpPr>
        <p:spPr>
          <a:xfrm>
            <a:off x="939800" y="51562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证据与数据层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B2FBF4F-4716-4B1A-BC51-6F25EF6FEADD}"/>
              </a:ext>
            </a:extLst>
          </p:cNvPr>
          <p:cNvCxnSpPr/>
          <p:nvPr/>
        </p:nvCxnSpPr>
        <p:spPr>
          <a:xfrm>
            <a:off x="2641600" y="5080000"/>
            <a:ext cx="0" cy="78740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C9E2DA1D-5AEB-4AE3-B2C1-AB1CE308F1F6}"/>
              </a:ext>
            </a:extLst>
          </p:cNvPr>
          <p:cNvSpPr txBox="1"/>
          <p:nvPr/>
        </p:nvSpPr>
        <p:spPr>
          <a:xfrm>
            <a:off x="2844800" y="2108200"/>
            <a:ext cx="833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主题与论文数输入  </a:t>
            </a:r>
            <a:r>
              <a:rPr lang="en-US" altLang="zh-CN" sz="12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SSE </a:t>
            </a:r>
            <a:r>
              <a:rPr lang="zh-CN" altLang="en-US" sz="12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实时进度  </a:t>
            </a:r>
            <a:r>
              <a:rPr lang="en-US" altLang="zh-CN" sz="12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</a:t>
            </a:r>
            <a:r>
              <a:rPr lang="zh-CN" altLang="en-US" sz="12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综述阅读  </a:t>
            </a:r>
            <a:r>
              <a:rPr lang="en-US" altLang="zh-CN" sz="12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</a:t>
            </a:r>
            <a:r>
              <a:rPr lang="zh-CN" altLang="en-US" sz="12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引用角标与证据侧栏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6C6D774-435E-4CB7-B752-4B277AB509F2}"/>
              </a:ext>
            </a:extLst>
          </p:cNvPr>
          <p:cNvSpPr txBox="1"/>
          <p:nvPr/>
        </p:nvSpPr>
        <p:spPr>
          <a:xfrm>
            <a:off x="2844800" y="3048000"/>
            <a:ext cx="833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LangGraph StateGraph  ·  Send×N 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并行  </a:t>
            </a:r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defer 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汇合  </a:t>
            </a:r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修复回退与检查点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5B6F12A-2B7F-4CDE-AB4E-82F3C00280F7}"/>
              </a:ext>
            </a:extLst>
          </p:cNvPr>
          <p:cNvSpPr/>
          <p:nvPr/>
        </p:nvSpPr>
        <p:spPr>
          <a:xfrm>
            <a:off x="2794000" y="3937000"/>
            <a:ext cx="1574800" cy="63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2558AAD-3BE7-46EF-B594-7E623C74EC21}"/>
              </a:ext>
            </a:extLst>
          </p:cNvPr>
          <p:cNvSpPr txBox="1"/>
          <p:nvPr/>
        </p:nvSpPr>
        <p:spPr>
          <a:xfrm>
            <a:off x="2857500" y="40386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05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检索员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A5CDF08-3F38-45DF-B514-805AE562E6B2}"/>
              </a:ext>
            </a:extLst>
          </p:cNvPr>
          <p:cNvSpPr txBox="1"/>
          <p:nvPr/>
        </p:nvSpPr>
        <p:spPr>
          <a:xfrm>
            <a:off x="2857500" y="43053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8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retrieval/retrieve.py</a:t>
            </a:r>
            <a:endParaRPr lang="zh-CN" altLang="en-US" sz="850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21DDF8A-7661-49E9-B591-2E87C69018BB}"/>
              </a:ext>
            </a:extLst>
          </p:cNvPr>
          <p:cNvSpPr/>
          <p:nvPr/>
        </p:nvSpPr>
        <p:spPr>
          <a:xfrm>
            <a:off x="4470400" y="3937000"/>
            <a:ext cx="1574800" cy="63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8BAC4A5-CEBB-410A-884E-65D6BA004C47}"/>
              </a:ext>
            </a:extLst>
          </p:cNvPr>
          <p:cNvSpPr txBox="1"/>
          <p:nvPr/>
        </p:nvSpPr>
        <p:spPr>
          <a:xfrm>
            <a:off x="4533900" y="40386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05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读稿员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7E3D266-E4DC-4F5F-A380-3DD00C65DD41}"/>
              </a:ext>
            </a:extLst>
          </p:cNvPr>
          <p:cNvSpPr txBox="1"/>
          <p:nvPr/>
        </p:nvSpPr>
        <p:spPr>
          <a:xfrm>
            <a:off x="4533900" y="43053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8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agents/analyst.py</a:t>
            </a:r>
            <a:endParaRPr lang="zh-CN" altLang="en-US" sz="850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04A2FC2A-7037-46A7-AA52-E5CFABD0C258}"/>
              </a:ext>
            </a:extLst>
          </p:cNvPr>
          <p:cNvSpPr/>
          <p:nvPr/>
        </p:nvSpPr>
        <p:spPr>
          <a:xfrm>
            <a:off x="6146800" y="3937000"/>
            <a:ext cx="1574800" cy="63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CC5B6AA-525E-43BD-8389-43B2AC6CE393}"/>
              </a:ext>
            </a:extLst>
          </p:cNvPr>
          <p:cNvSpPr txBox="1"/>
          <p:nvPr/>
        </p:nvSpPr>
        <p:spPr>
          <a:xfrm>
            <a:off x="6210300" y="40386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05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对比员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D9F8C12-B628-4F73-9B8B-4BDE203226DD}"/>
              </a:ext>
            </a:extLst>
          </p:cNvPr>
          <p:cNvSpPr txBox="1"/>
          <p:nvPr/>
        </p:nvSpPr>
        <p:spPr>
          <a:xfrm>
            <a:off x="6210300" y="43053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8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agents/comparator.py</a:t>
            </a:r>
            <a:endParaRPr lang="zh-CN" altLang="en-US" sz="850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998EF50E-EC83-4DB2-8EAF-4D9599B3B6BF}"/>
              </a:ext>
            </a:extLst>
          </p:cNvPr>
          <p:cNvSpPr/>
          <p:nvPr/>
        </p:nvSpPr>
        <p:spPr>
          <a:xfrm>
            <a:off x="7823200" y="3937000"/>
            <a:ext cx="1574800" cy="63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1CD2D05-49E7-4FFB-856E-F05CB1DE8B19}"/>
              </a:ext>
            </a:extLst>
          </p:cNvPr>
          <p:cNvSpPr txBox="1"/>
          <p:nvPr/>
        </p:nvSpPr>
        <p:spPr>
          <a:xfrm>
            <a:off x="7886700" y="40386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05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撰稿人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FE686D5-D39A-4D70-9412-AA3F36801029}"/>
              </a:ext>
            </a:extLst>
          </p:cNvPr>
          <p:cNvSpPr txBox="1"/>
          <p:nvPr/>
        </p:nvSpPr>
        <p:spPr>
          <a:xfrm>
            <a:off x="7886700" y="43053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8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agents/writer.py</a:t>
            </a:r>
            <a:endParaRPr lang="zh-CN" altLang="en-US" sz="850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B4A4054B-44A4-4E86-A32F-748335EBC18E}"/>
              </a:ext>
            </a:extLst>
          </p:cNvPr>
          <p:cNvSpPr/>
          <p:nvPr/>
        </p:nvSpPr>
        <p:spPr>
          <a:xfrm>
            <a:off x="9499600" y="3937000"/>
            <a:ext cx="1574800" cy="635000"/>
          </a:xfrm>
          <a:prstGeom prst="roundRect">
            <a:avLst/>
          </a:prstGeom>
          <a:solidFill>
            <a:srgbClr val="EEF6F6"/>
          </a:solidFill>
          <a:ln w="12700">
            <a:solidFill>
              <a:srgbClr val="0E7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FE2DA96-AE1A-4C6E-8C86-576A92D5DA3D}"/>
              </a:ext>
            </a:extLst>
          </p:cNvPr>
          <p:cNvSpPr txBox="1"/>
          <p:nvPr/>
        </p:nvSpPr>
        <p:spPr>
          <a:xfrm>
            <a:off x="9563100" y="40386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05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校验员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696614C-8252-4F05-9AB1-0108246B776D}"/>
              </a:ext>
            </a:extLst>
          </p:cNvPr>
          <p:cNvSpPr txBox="1"/>
          <p:nvPr/>
        </p:nvSpPr>
        <p:spPr>
          <a:xfrm>
            <a:off x="9563100" y="43053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850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agents/verifier.py</a:t>
            </a:r>
            <a:endParaRPr lang="zh-CN" altLang="en-US" sz="850">
              <a:solidFill>
                <a:srgbClr val="0E7C8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85AC2AC-2A4C-41A3-992A-FB50EB55E5AC}"/>
              </a:ext>
            </a:extLst>
          </p:cNvPr>
          <p:cNvSpPr txBox="1"/>
          <p:nvPr/>
        </p:nvSpPr>
        <p:spPr>
          <a:xfrm>
            <a:off x="2844800" y="5105400"/>
            <a:ext cx="833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arXiv </a:t>
            </a:r>
            <a:r>
              <a:rPr lang="zh-CN" altLang="en-US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论文与全文/摘要  </a:t>
            </a:r>
            <a:r>
              <a:rPr lang="en-US" altLang="zh-CN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 Span </a:t>
            </a:r>
            <a:r>
              <a:rPr lang="zh-CN" altLang="en-US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证据索引（</a:t>
            </a:r>
            <a:r>
              <a:rPr lang="en-US" altLang="zh-CN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BM25 + </a:t>
            </a:r>
            <a:r>
              <a:rPr lang="zh-CN" altLang="en-US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向量）  </a:t>
            </a:r>
            <a:r>
              <a:rPr lang="en-US" altLang="zh-CN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 PaperCard </a:t>
            </a:r>
            <a:r>
              <a:rPr lang="zh-CN" altLang="en-US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Family  /  SQLite + JSON + trace</a:t>
            </a:r>
            <a:endParaRPr lang="zh-CN" altLang="en-US" sz="1100">
              <a:solidFill>
                <a:srgbClr val="333D4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FF584E0-B7A2-468E-AF12-91EA8A064CD3}"/>
              </a:ext>
            </a:extLst>
          </p:cNvPr>
          <p:cNvSpPr txBox="1"/>
          <p:nvPr/>
        </p:nvSpPr>
        <p:spPr>
          <a:xfrm>
            <a:off x="2844800" y="5588000"/>
            <a:ext cx="833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数据契约：</a:t>
            </a:r>
            <a:r>
              <a:rPr lang="en-US" altLang="zh-CN" sz="10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Paper / Span / PaperCard / Family / Claim</a:t>
            </a:r>
            <a:r>
              <a:rPr lang="zh-CN" altLang="en-US" sz="10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；每次运行保留中间产物、问题句与统计。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F98A54C-4D0D-4BF5-A281-EFFEC15EFBEF}"/>
              </a:ext>
            </a:extLst>
          </p:cNvPr>
          <p:cNvSpPr txBox="1"/>
          <p:nvPr/>
        </p:nvSpPr>
        <p:spPr>
          <a:xfrm>
            <a:off x="939800" y="61214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↑  模块名称与项目目录一一对应，后续展示和答辩都能回到具体代码。</a:t>
            </a:r>
          </a:p>
        </p:txBody>
      </p:sp>
    </p:spTree>
    <p:extLst>
      <p:ext uri="{BB962C8B-B14F-4D97-AF65-F5344CB8AC3E}">
        <p14:creationId xmlns:p14="http://schemas.microsoft.com/office/powerpoint/2010/main" val="531833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50F26A-9FEE-415D-8DC7-E18235FEC29E}"/>
              </a:ext>
            </a:extLst>
          </p:cNvPr>
          <p:cNvSpPr txBox="1"/>
          <p:nvPr/>
        </p:nvSpPr>
        <p:spPr>
          <a:xfrm>
            <a:off x="711200" y="2794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 /  </a:t>
            </a:r>
            <a:r>
              <a:rPr lang="zh-CN" altLang="en-US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多智能体协同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829224-715D-4F3B-BE47-A1969639D245}"/>
              </a:ext>
            </a:extLst>
          </p:cNvPr>
          <p:cNvSpPr txBox="1"/>
          <p:nvPr/>
        </p:nvSpPr>
        <p:spPr>
          <a:xfrm>
            <a:off x="711200" y="5715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7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五个角色接力完成，不是靠多轮聊天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93B60E-AA6B-42D6-B92B-3C88A565000A}"/>
              </a:ext>
            </a:extLst>
          </p:cNvPr>
          <p:cNvSpPr txBox="1"/>
          <p:nvPr/>
        </p:nvSpPr>
        <p:spPr>
          <a:xfrm>
            <a:off x="711200" y="12192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每个角色只做一类工作；</a:t>
            </a:r>
            <a:r>
              <a:rPr lang="en-US" altLang="zh-CN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LangGraph </a:t>
            </a:r>
            <a:r>
              <a:rPr lang="zh-CN" altLang="en-US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用共享状态传递 </a:t>
            </a:r>
            <a:r>
              <a:rPr lang="en-US" altLang="zh-CN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Paper</a:t>
            </a:r>
            <a:r>
              <a:rPr lang="zh-CN" altLang="en-US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Span</a:t>
            </a:r>
            <a:r>
              <a:rPr lang="zh-CN" altLang="en-US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PaperCard</a:t>
            </a:r>
            <a:r>
              <a:rPr lang="zh-CN" altLang="en-US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Family </a:t>
            </a:r>
            <a:r>
              <a:rPr lang="zh-CN" altLang="en-US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 </a:t>
            </a:r>
            <a:r>
              <a:rPr lang="en-US" altLang="zh-CN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Claim</a:t>
            </a:r>
            <a:r>
              <a:rPr lang="zh-CN" altLang="en-US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5377EEA-7C03-41CB-A97C-10CCB9282E17}"/>
              </a:ext>
            </a:extLst>
          </p:cNvPr>
          <p:cNvCxnSpPr/>
          <p:nvPr/>
        </p:nvCxnSpPr>
        <p:spPr>
          <a:xfrm>
            <a:off x="711200" y="1612900"/>
            <a:ext cx="10769600" cy="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C5EB1EB-6FEC-4BE1-857F-9C35C7DE424C}"/>
              </a:ext>
            </a:extLst>
          </p:cNvPr>
          <p:cNvCxnSpPr/>
          <p:nvPr/>
        </p:nvCxnSpPr>
        <p:spPr>
          <a:xfrm>
            <a:off x="711200" y="1612900"/>
            <a:ext cx="838200" cy="0"/>
          </a:xfrm>
          <a:prstGeom prst="line">
            <a:avLst/>
          </a:prstGeom>
          <a:ln w="25400">
            <a:solidFill>
              <a:srgbClr val="0E7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F32AFB2-6FB2-46D1-96C0-DFFCAA26122B}"/>
              </a:ext>
            </a:extLst>
          </p:cNvPr>
          <p:cNvCxnSpPr/>
          <p:nvPr/>
        </p:nvCxnSpPr>
        <p:spPr>
          <a:xfrm>
            <a:off x="711200" y="6502400"/>
            <a:ext cx="10769600" cy="0"/>
          </a:xfrm>
          <a:prstGeom prst="line">
            <a:avLst/>
          </a:prstGeom>
          <a:ln w="889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869D662-645E-44FF-A013-501F6DD9C3ED}"/>
              </a:ext>
            </a:extLst>
          </p:cNvPr>
          <p:cNvSpPr txBox="1"/>
          <p:nvPr/>
        </p:nvSpPr>
        <p:spPr>
          <a:xfrm>
            <a:off x="711200" y="66040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8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基于多智能体协同的科研文献智能综述生成系统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0B8C8B5-E783-4784-B8AD-CAFF56EAE8DB}"/>
              </a:ext>
            </a:extLst>
          </p:cNvPr>
          <p:cNvSpPr txBox="1"/>
          <p:nvPr/>
        </p:nvSpPr>
        <p:spPr>
          <a:xfrm>
            <a:off x="10998200" y="6604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8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800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27432EC-9415-4D85-AB30-D3FE16A8ABF3}"/>
              </a:ext>
            </a:extLst>
          </p:cNvPr>
          <p:cNvSpPr/>
          <p:nvPr/>
        </p:nvSpPr>
        <p:spPr>
          <a:xfrm>
            <a:off x="711200" y="1879600"/>
            <a:ext cx="7924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44108AE-D02C-4CF5-A010-9FEE912B4AC7}"/>
              </a:ext>
            </a:extLst>
          </p:cNvPr>
          <p:cNvSpPr/>
          <p:nvPr/>
        </p:nvSpPr>
        <p:spPr>
          <a:xfrm>
            <a:off x="914400" y="2044700"/>
            <a:ext cx="355600" cy="355600"/>
          </a:xfrm>
          <a:prstGeom prst="ellipse">
            <a:avLst/>
          </a:prstGeom>
          <a:solidFill>
            <a:srgbClr val="142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A138CD2-E4E6-41B8-B6CA-DFA0E60633CB}"/>
              </a:ext>
            </a:extLst>
          </p:cNvPr>
          <p:cNvSpPr txBox="1"/>
          <p:nvPr/>
        </p:nvSpPr>
        <p:spPr>
          <a:xfrm>
            <a:off x="914400" y="2057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A6CEA76-E2CD-4CEC-82F2-6982826B380D}"/>
              </a:ext>
            </a:extLst>
          </p:cNvPr>
          <p:cNvSpPr txBox="1"/>
          <p:nvPr/>
        </p:nvSpPr>
        <p:spPr>
          <a:xfrm>
            <a:off x="1473200" y="2044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检索员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87C5026-BE91-42C3-A0E3-49441684B45A}"/>
              </a:ext>
            </a:extLst>
          </p:cNvPr>
          <p:cNvSpPr txBox="1"/>
          <p:nvPr/>
        </p:nvSpPr>
        <p:spPr>
          <a:xfrm>
            <a:off x="2641600" y="20701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retrieval/retrieve.py</a:t>
            </a:r>
            <a:endParaRPr lang="zh-CN" altLang="en-US" sz="900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D790E61-6C41-4E51-B2E5-BED74FBBAC91}"/>
              </a:ext>
            </a:extLst>
          </p:cNvPr>
          <p:cNvSpPr txBox="1"/>
          <p:nvPr/>
        </p:nvSpPr>
        <p:spPr>
          <a:xfrm>
            <a:off x="4267200" y="2006600"/>
            <a:ext cx="411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多路查询、RRF 融合与全文获取，产出论文与 Span</a:t>
            </a:r>
            <a:endParaRPr lang="zh-CN" altLang="en-US" sz="1050">
              <a:solidFill>
                <a:srgbClr val="333D4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A19E78D-25E8-45C9-9BE4-4F592F32EECA}"/>
              </a:ext>
            </a:extLst>
          </p:cNvPr>
          <p:cNvSpPr/>
          <p:nvPr/>
        </p:nvSpPr>
        <p:spPr>
          <a:xfrm>
            <a:off x="711200" y="2705100"/>
            <a:ext cx="7924800" cy="685800"/>
          </a:xfrm>
          <a:prstGeom prst="roundRect">
            <a:avLst/>
          </a:prstGeom>
          <a:solidFill>
            <a:srgbClr val="F0F4F7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BA94881-97DC-40F2-B028-F72BE0335274}"/>
              </a:ext>
            </a:extLst>
          </p:cNvPr>
          <p:cNvSpPr/>
          <p:nvPr/>
        </p:nvSpPr>
        <p:spPr>
          <a:xfrm>
            <a:off x="914400" y="2870200"/>
            <a:ext cx="355600" cy="355600"/>
          </a:xfrm>
          <a:prstGeom prst="ellipse">
            <a:avLst/>
          </a:prstGeom>
          <a:solidFill>
            <a:srgbClr val="142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1882551-A90B-42CA-8379-24D33C7B26B8}"/>
              </a:ext>
            </a:extLst>
          </p:cNvPr>
          <p:cNvSpPr txBox="1"/>
          <p:nvPr/>
        </p:nvSpPr>
        <p:spPr>
          <a:xfrm>
            <a:off x="914400" y="28829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6B8248B-A103-49E5-9D63-33D4F7014A51}"/>
              </a:ext>
            </a:extLst>
          </p:cNvPr>
          <p:cNvSpPr txBox="1"/>
          <p:nvPr/>
        </p:nvSpPr>
        <p:spPr>
          <a:xfrm>
            <a:off x="1473200" y="28702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读稿员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B5FA990-72A7-488A-8EAA-C6DB1402673D}"/>
              </a:ext>
            </a:extLst>
          </p:cNvPr>
          <p:cNvSpPr txBox="1"/>
          <p:nvPr/>
        </p:nvSpPr>
        <p:spPr>
          <a:xfrm>
            <a:off x="2641600" y="28956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agents/analyst.py</a:t>
            </a:r>
            <a:endParaRPr lang="zh-CN" altLang="en-US" sz="900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523ED17-B72E-45EE-80B7-FAA0F894B9DB}"/>
              </a:ext>
            </a:extLst>
          </p:cNvPr>
          <p:cNvSpPr txBox="1"/>
          <p:nvPr/>
        </p:nvSpPr>
        <p:spPr>
          <a:xfrm>
            <a:off x="4267200" y="2832100"/>
            <a:ext cx="411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逐篇生成 </a:t>
            </a:r>
            <a:r>
              <a:rPr lang="en-US" altLang="zh-CN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PaperCard</a:t>
            </a:r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，每个字段附逐字引文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85C66F1-D15F-4EA8-B8A5-82B64E29BDD5}"/>
              </a:ext>
            </a:extLst>
          </p:cNvPr>
          <p:cNvSpPr/>
          <p:nvPr/>
        </p:nvSpPr>
        <p:spPr>
          <a:xfrm>
            <a:off x="711200" y="3530600"/>
            <a:ext cx="7924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0187854C-78E2-4D36-8685-B1A24F439F22}"/>
              </a:ext>
            </a:extLst>
          </p:cNvPr>
          <p:cNvSpPr/>
          <p:nvPr/>
        </p:nvSpPr>
        <p:spPr>
          <a:xfrm>
            <a:off x="914400" y="3695700"/>
            <a:ext cx="355600" cy="355600"/>
          </a:xfrm>
          <a:prstGeom prst="ellipse">
            <a:avLst/>
          </a:prstGeom>
          <a:solidFill>
            <a:srgbClr val="142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7A9064C-F8D9-40B9-9DA6-D5E63729433F}"/>
              </a:ext>
            </a:extLst>
          </p:cNvPr>
          <p:cNvSpPr txBox="1"/>
          <p:nvPr/>
        </p:nvSpPr>
        <p:spPr>
          <a:xfrm>
            <a:off x="914400" y="3708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629D0A4-B360-4447-9219-8361EEBAF8DF}"/>
              </a:ext>
            </a:extLst>
          </p:cNvPr>
          <p:cNvSpPr txBox="1"/>
          <p:nvPr/>
        </p:nvSpPr>
        <p:spPr>
          <a:xfrm>
            <a:off x="1473200" y="3695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对比员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D26E5E2-7CEB-4863-B50B-D9F58F433AE4}"/>
              </a:ext>
            </a:extLst>
          </p:cNvPr>
          <p:cNvSpPr txBox="1"/>
          <p:nvPr/>
        </p:nvSpPr>
        <p:spPr>
          <a:xfrm>
            <a:off x="2641600" y="37211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agents/comparator.py</a:t>
            </a:r>
            <a:endParaRPr lang="zh-CN" altLang="en-US" sz="900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B517078-1B8F-405E-8580-9781A13B20F3}"/>
              </a:ext>
            </a:extLst>
          </p:cNvPr>
          <p:cNvSpPr txBox="1"/>
          <p:nvPr/>
        </p:nvSpPr>
        <p:spPr>
          <a:xfrm>
            <a:off x="4267200" y="3657600"/>
            <a:ext cx="411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汇总方法族、演进边与冲突提示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A3053B9-BF4B-49FB-9FFA-BD6DAE2C70A0}"/>
              </a:ext>
            </a:extLst>
          </p:cNvPr>
          <p:cNvSpPr/>
          <p:nvPr/>
        </p:nvSpPr>
        <p:spPr>
          <a:xfrm>
            <a:off x="711200" y="4356100"/>
            <a:ext cx="7924800" cy="685800"/>
          </a:xfrm>
          <a:prstGeom prst="roundRect">
            <a:avLst/>
          </a:prstGeom>
          <a:solidFill>
            <a:srgbClr val="F0F4F7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832A698B-853D-416B-B73C-60F5D75EDBCD}"/>
              </a:ext>
            </a:extLst>
          </p:cNvPr>
          <p:cNvSpPr/>
          <p:nvPr/>
        </p:nvSpPr>
        <p:spPr>
          <a:xfrm>
            <a:off x="914400" y="4521200"/>
            <a:ext cx="355600" cy="355600"/>
          </a:xfrm>
          <a:prstGeom prst="ellipse">
            <a:avLst/>
          </a:prstGeom>
          <a:solidFill>
            <a:srgbClr val="142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2248285-834F-4E01-9251-404FE14DE8B0}"/>
              </a:ext>
            </a:extLst>
          </p:cNvPr>
          <p:cNvSpPr txBox="1"/>
          <p:nvPr/>
        </p:nvSpPr>
        <p:spPr>
          <a:xfrm>
            <a:off x="914400" y="45339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50EBB13-FB89-4A14-9D42-8F1529F2F70F}"/>
              </a:ext>
            </a:extLst>
          </p:cNvPr>
          <p:cNvSpPr txBox="1"/>
          <p:nvPr/>
        </p:nvSpPr>
        <p:spPr>
          <a:xfrm>
            <a:off x="1473200" y="45212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撰稿人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E2EB324-EB8C-4752-B466-34836CAF5BAD}"/>
              </a:ext>
            </a:extLst>
          </p:cNvPr>
          <p:cNvSpPr txBox="1"/>
          <p:nvPr/>
        </p:nvSpPr>
        <p:spPr>
          <a:xfrm>
            <a:off x="2641600" y="45466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agents/writer.py</a:t>
            </a:r>
            <a:endParaRPr lang="zh-CN" altLang="en-US" sz="900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E173630-80EE-4A74-90B6-54140DCA43D9}"/>
              </a:ext>
            </a:extLst>
          </p:cNvPr>
          <p:cNvSpPr txBox="1"/>
          <p:nvPr/>
        </p:nvSpPr>
        <p:spPr>
          <a:xfrm>
            <a:off x="4267200" y="4483100"/>
            <a:ext cx="411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按方法族组织章节，事实句绑定 </a:t>
            </a:r>
            <a:r>
              <a:rPr lang="en-US" altLang="zh-CN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span_id</a:t>
            </a:r>
            <a:endParaRPr lang="zh-CN" altLang="en-US" sz="1050">
              <a:solidFill>
                <a:srgbClr val="333D4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0DFCA9AA-AF15-461C-8FC9-AC176FB78B5A}"/>
              </a:ext>
            </a:extLst>
          </p:cNvPr>
          <p:cNvSpPr/>
          <p:nvPr/>
        </p:nvSpPr>
        <p:spPr>
          <a:xfrm>
            <a:off x="711200" y="5181600"/>
            <a:ext cx="7924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C6BAA875-384C-4A0A-82FE-11387552785F}"/>
              </a:ext>
            </a:extLst>
          </p:cNvPr>
          <p:cNvSpPr/>
          <p:nvPr/>
        </p:nvSpPr>
        <p:spPr>
          <a:xfrm>
            <a:off x="914400" y="5346700"/>
            <a:ext cx="355600" cy="3556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6870277-0782-48DF-8FD6-C63B4E470798}"/>
              </a:ext>
            </a:extLst>
          </p:cNvPr>
          <p:cNvSpPr txBox="1"/>
          <p:nvPr/>
        </p:nvSpPr>
        <p:spPr>
          <a:xfrm>
            <a:off x="914400" y="5359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0D22CC9-F9F6-46C4-B0D5-84F544BF3F9A}"/>
              </a:ext>
            </a:extLst>
          </p:cNvPr>
          <p:cNvSpPr txBox="1"/>
          <p:nvPr/>
        </p:nvSpPr>
        <p:spPr>
          <a:xfrm>
            <a:off x="1473200" y="5346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校验员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17DA79F-0BBE-4897-8DDB-40E017B4B192}"/>
              </a:ext>
            </a:extLst>
          </p:cNvPr>
          <p:cNvSpPr txBox="1"/>
          <p:nvPr/>
        </p:nvSpPr>
        <p:spPr>
          <a:xfrm>
            <a:off x="2641600" y="53721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agents/verifier.py</a:t>
            </a:r>
            <a:endParaRPr lang="zh-CN" altLang="en-US" sz="900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BB1320C-D68C-4156-A27D-101261622E48}"/>
              </a:ext>
            </a:extLst>
          </p:cNvPr>
          <p:cNvSpPr txBox="1"/>
          <p:nvPr/>
        </p:nvSpPr>
        <p:spPr>
          <a:xfrm>
            <a:off x="4267200" y="5308600"/>
            <a:ext cx="411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检查引用与数字，产出保留句和问题清单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9D24C842-C457-46EE-BD64-254904EDCFC4}"/>
              </a:ext>
            </a:extLst>
          </p:cNvPr>
          <p:cNvSpPr/>
          <p:nvPr/>
        </p:nvSpPr>
        <p:spPr>
          <a:xfrm>
            <a:off x="8940800" y="1879600"/>
            <a:ext cx="2540000" cy="2032000"/>
          </a:xfrm>
          <a:prstGeom prst="roundRect">
            <a:avLst/>
          </a:prstGeom>
          <a:solidFill>
            <a:srgbClr val="142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AD72810-6083-4E0E-83DF-D9DA02E9FD29}"/>
              </a:ext>
            </a:extLst>
          </p:cNvPr>
          <p:cNvSpPr txBox="1"/>
          <p:nvPr/>
        </p:nvSpPr>
        <p:spPr>
          <a:xfrm>
            <a:off x="9194800" y="21336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并行与汇合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767BA5C-62B8-42B0-AF37-C11840A010DE}"/>
              </a:ext>
            </a:extLst>
          </p:cNvPr>
          <p:cNvSpPr txBox="1"/>
          <p:nvPr/>
        </p:nvSpPr>
        <p:spPr>
          <a:xfrm>
            <a:off x="9194800" y="2641600"/>
            <a:ext cx="200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>
                <a:solidFill>
                  <a:srgbClr val="DCDCD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Send×N</a:t>
            </a:r>
            <a:r>
              <a:rPr lang="zh-CN" altLang="en-US" sz="1000">
                <a:solidFill>
                  <a:srgbClr val="DCDCD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：每篇论文一个分析分支
</a:t>
            </a:r>
            <a:r>
              <a:rPr lang="en-US" altLang="zh-CN" sz="1000">
                <a:solidFill>
                  <a:srgbClr val="DCDCD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compare(defer) </a:t>
            </a:r>
            <a:r>
              <a:rPr lang="zh-CN" altLang="en-US" sz="1000">
                <a:solidFill>
                  <a:srgbClr val="DCDCD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等所有卡片到齐后执行一次。
排序结果写入 </a:t>
            </a:r>
            <a:r>
              <a:rPr lang="en-US" altLang="zh-CN" sz="1000">
                <a:solidFill>
                  <a:srgbClr val="DCDCD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cards_sorted</a:t>
            </a:r>
            <a:r>
              <a:rPr lang="zh-CN" altLang="en-US" sz="1000">
                <a:solidFill>
                  <a:srgbClr val="DCDCD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，避免重复归并。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19A6F389-73DE-4E26-A669-ABE6C170EBE4}"/>
              </a:ext>
            </a:extLst>
          </p:cNvPr>
          <p:cNvSpPr/>
          <p:nvPr/>
        </p:nvSpPr>
        <p:spPr>
          <a:xfrm>
            <a:off x="8940800" y="4140200"/>
            <a:ext cx="2540000" cy="1866900"/>
          </a:xfrm>
          <a:prstGeom prst="roundRect">
            <a:avLst/>
          </a:prstGeom>
          <a:solidFill>
            <a:srgbClr val="EEF6F6"/>
          </a:solidFill>
          <a:ln w="12700">
            <a:solidFill>
              <a:srgbClr val="0E7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3CA47C6-0656-4697-BE8E-9C45CC604EEE}"/>
              </a:ext>
            </a:extLst>
          </p:cNvPr>
          <p:cNvSpPr txBox="1"/>
          <p:nvPr/>
        </p:nvSpPr>
        <p:spPr>
          <a:xfrm>
            <a:off x="9194800" y="43942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修复回路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725DFF5-7484-421F-9ECB-DD8BE8A8AE36}"/>
              </a:ext>
            </a:extLst>
          </p:cNvPr>
          <p:cNvSpPr txBox="1"/>
          <p:nvPr/>
        </p:nvSpPr>
        <p:spPr>
          <a:xfrm>
            <a:off x="9194800" y="4876800"/>
            <a:ext cx="200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verify </a:t>
            </a:r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发现问题
→ </a:t>
            </a:r>
            <a:r>
              <a:rPr lang="en-US" altLang="zh-CN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revise </a:t>
            </a:r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在同篇论文内重挂更合适的 </a:t>
            </a:r>
            <a:r>
              <a:rPr lang="en-US" altLang="zh-CN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Span
→ </a:t>
            </a:r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再次校验
最多两轮；修不好再删除。</a:t>
            </a:r>
          </a:p>
        </p:txBody>
      </p:sp>
    </p:spTree>
    <p:extLst>
      <p:ext uri="{BB962C8B-B14F-4D97-AF65-F5344CB8AC3E}">
        <p14:creationId xmlns:p14="http://schemas.microsoft.com/office/powerpoint/2010/main" val="1543421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C81B1DC-1B99-48D0-B378-925CA676FF40}"/>
              </a:ext>
            </a:extLst>
          </p:cNvPr>
          <p:cNvSpPr txBox="1"/>
          <p:nvPr/>
        </p:nvSpPr>
        <p:spPr>
          <a:xfrm>
            <a:off x="711200" y="2794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  /  </a:t>
            </a:r>
            <a:r>
              <a:rPr lang="zh-CN" altLang="en-US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一次任务怎样完成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1B63FA9-D14D-422A-85DD-F3CD969AE31D}"/>
              </a:ext>
            </a:extLst>
          </p:cNvPr>
          <p:cNvSpPr txBox="1"/>
          <p:nvPr/>
        </p:nvSpPr>
        <p:spPr>
          <a:xfrm>
            <a:off x="711200" y="5715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7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从用户提问到综述交付，中间产物都能留下来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9A25B2-CB10-41AD-A39B-15592650A04C}"/>
              </a:ext>
            </a:extLst>
          </p:cNvPr>
          <p:cNvSpPr txBox="1"/>
          <p:nvPr/>
        </p:nvSpPr>
        <p:spPr>
          <a:xfrm>
            <a:off x="711200" y="12192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流程可以自动执行，也能在证据不足时回到前面的步骤。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76076C0-F672-47CD-B425-5EB4F1F5D967}"/>
              </a:ext>
            </a:extLst>
          </p:cNvPr>
          <p:cNvCxnSpPr/>
          <p:nvPr/>
        </p:nvCxnSpPr>
        <p:spPr>
          <a:xfrm>
            <a:off x="711200" y="1612900"/>
            <a:ext cx="10769600" cy="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7A24160-DA67-4FC7-A5F4-2FB35BDA401F}"/>
              </a:ext>
            </a:extLst>
          </p:cNvPr>
          <p:cNvCxnSpPr/>
          <p:nvPr/>
        </p:nvCxnSpPr>
        <p:spPr>
          <a:xfrm>
            <a:off x="711200" y="1612900"/>
            <a:ext cx="838200" cy="0"/>
          </a:xfrm>
          <a:prstGeom prst="line">
            <a:avLst/>
          </a:prstGeom>
          <a:ln w="25400">
            <a:solidFill>
              <a:srgbClr val="0E7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C995963-D43C-4421-9880-EC4F92950331}"/>
              </a:ext>
            </a:extLst>
          </p:cNvPr>
          <p:cNvCxnSpPr/>
          <p:nvPr/>
        </p:nvCxnSpPr>
        <p:spPr>
          <a:xfrm>
            <a:off x="711200" y="6502400"/>
            <a:ext cx="10769600" cy="0"/>
          </a:xfrm>
          <a:prstGeom prst="line">
            <a:avLst/>
          </a:prstGeom>
          <a:ln w="889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E8C95BF-A155-4A8E-B0E7-C220971F2191}"/>
              </a:ext>
            </a:extLst>
          </p:cNvPr>
          <p:cNvSpPr txBox="1"/>
          <p:nvPr/>
        </p:nvSpPr>
        <p:spPr>
          <a:xfrm>
            <a:off x="711200" y="66040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8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基于多智能体协同的科研文献智能综述生成系统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0CA2C3E-744F-415C-B3A1-16CE86F91F43}"/>
              </a:ext>
            </a:extLst>
          </p:cNvPr>
          <p:cNvSpPr txBox="1"/>
          <p:nvPr/>
        </p:nvSpPr>
        <p:spPr>
          <a:xfrm>
            <a:off x="10998200" y="6604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8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endParaRPr lang="zh-CN" altLang="en-US" sz="800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2E12F65-C027-43E0-96FE-48BEE6471C6E}"/>
              </a:ext>
            </a:extLst>
          </p:cNvPr>
          <p:cNvSpPr txBox="1"/>
          <p:nvPr/>
        </p:nvSpPr>
        <p:spPr>
          <a:xfrm>
            <a:off x="762000" y="18796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示例主题：检索增强生成在长上下文场景中的方法演进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22763D9-AA16-4F40-B2F0-84CDCA22EDC6}"/>
              </a:ext>
            </a:extLst>
          </p:cNvPr>
          <p:cNvSpPr/>
          <p:nvPr/>
        </p:nvSpPr>
        <p:spPr>
          <a:xfrm>
            <a:off x="711200" y="2565400"/>
            <a:ext cx="1422400" cy="185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9FA6293-ABAE-4235-8250-E3493D261DCB}"/>
              </a:ext>
            </a:extLst>
          </p:cNvPr>
          <p:cNvSpPr txBox="1"/>
          <p:nvPr/>
        </p:nvSpPr>
        <p:spPr>
          <a:xfrm>
            <a:off x="863600" y="27686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900" b="1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387D871-6EB2-43DF-8811-0EBD7B696BC2}"/>
              </a:ext>
            </a:extLst>
          </p:cNvPr>
          <p:cNvSpPr txBox="1"/>
          <p:nvPr/>
        </p:nvSpPr>
        <p:spPr>
          <a:xfrm>
            <a:off x="863600" y="3187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plan </a:t>
            </a:r>
            <a:r>
              <a:rPr lang="zh-CN" altLang="en-US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拆题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612955B-D943-4444-84E1-F84D9899783F}"/>
              </a:ext>
            </a:extLst>
          </p:cNvPr>
          <p:cNvSpPr txBox="1"/>
          <p:nvPr/>
        </p:nvSpPr>
        <p:spPr>
          <a:xfrm>
            <a:off x="863600" y="38100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子问题与查询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24B4002-E81E-49E7-8709-EDD2069CC250}"/>
              </a:ext>
            </a:extLst>
          </p:cNvPr>
          <p:cNvSpPr/>
          <p:nvPr/>
        </p:nvSpPr>
        <p:spPr>
          <a:xfrm>
            <a:off x="2260600" y="2565400"/>
            <a:ext cx="1422400" cy="185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9F6FB61-4335-47CE-8B11-FFD4555D0851}"/>
              </a:ext>
            </a:extLst>
          </p:cNvPr>
          <p:cNvSpPr txBox="1"/>
          <p:nvPr/>
        </p:nvSpPr>
        <p:spPr>
          <a:xfrm>
            <a:off x="2413000" y="27686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900" b="1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ABE8440-C8FD-448C-8671-94F7EE7A4592}"/>
              </a:ext>
            </a:extLst>
          </p:cNvPr>
          <p:cNvSpPr txBox="1"/>
          <p:nvPr/>
        </p:nvSpPr>
        <p:spPr>
          <a:xfrm>
            <a:off x="2413000" y="3187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search </a:t>
            </a:r>
            <a:r>
              <a:rPr lang="zh-CN" altLang="en-US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检索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54126B1-115A-4F7A-9595-3A669B2ADC19}"/>
              </a:ext>
            </a:extLst>
          </p:cNvPr>
          <p:cNvSpPr txBox="1"/>
          <p:nvPr/>
        </p:nvSpPr>
        <p:spPr>
          <a:xfrm>
            <a:off x="2413000" y="38100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论文与全文 Span</a:t>
            </a:r>
            <a:endParaRPr lang="zh-CN" altLang="en-US" sz="1050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FD84E30-03C3-46AB-B88C-48A02450E77E}"/>
              </a:ext>
            </a:extLst>
          </p:cNvPr>
          <p:cNvSpPr/>
          <p:nvPr/>
        </p:nvSpPr>
        <p:spPr>
          <a:xfrm>
            <a:off x="3810000" y="2565400"/>
            <a:ext cx="1422400" cy="185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43ED77A-1BC9-450F-A8D9-B4131EF2E2A6}"/>
              </a:ext>
            </a:extLst>
          </p:cNvPr>
          <p:cNvSpPr txBox="1"/>
          <p:nvPr/>
        </p:nvSpPr>
        <p:spPr>
          <a:xfrm>
            <a:off x="3962400" y="27686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900" b="1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3E77CF9-ED76-4105-B740-BC8D0F3850C2}"/>
              </a:ext>
            </a:extLst>
          </p:cNvPr>
          <p:cNvSpPr txBox="1"/>
          <p:nvPr/>
        </p:nvSpPr>
        <p:spPr>
          <a:xfrm>
            <a:off x="3962400" y="3187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建立索引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84E7018-8B73-4F6F-98E5-406504E892DE}"/>
              </a:ext>
            </a:extLst>
          </p:cNvPr>
          <p:cNvSpPr txBox="1"/>
          <p:nvPr/>
        </p:nvSpPr>
        <p:spPr>
          <a:xfrm>
            <a:off x="3962400" y="38100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BM25 + </a:t>
            </a:r>
            <a:r>
              <a:rPr lang="zh-CN" altLang="en-US" sz="10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向量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8B0818D-04BC-4B8E-8BB4-E179526F019C}"/>
              </a:ext>
            </a:extLst>
          </p:cNvPr>
          <p:cNvSpPr/>
          <p:nvPr/>
        </p:nvSpPr>
        <p:spPr>
          <a:xfrm>
            <a:off x="5359400" y="2565400"/>
            <a:ext cx="1422400" cy="185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5628856-E282-4FCA-AD3F-9BCCA10823D3}"/>
              </a:ext>
            </a:extLst>
          </p:cNvPr>
          <p:cNvSpPr txBox="1"/>
          <p:nvPr/>
        </p:nvSpPr>
        <p:spPr>
          <a:xfrm>
            <a:off x="5511800" y="27686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900" b="1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2A4031F-3556-4B55-934B-A1A3217521C0}"/>
              </a:ext>
            </a:extLst>
          </p:cNvPr>
          <p:cNvSpPr txBox="1"/>
          <p:nvPr/>
        </p:nvSpPr>
        <p:spPr>
          <a:xfrm>
            <a:off x="5511800" y="3187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并行读卡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DA61A27-7941-4135-A6C0-12E75D68CE01}"/>
              </a:ext>
            </a:extLst>
          </p:cNvPr>
          <p:cNvSpPr txBox="1"/>
          <p:nvPr/>
        </p:nvSpPr>
        <p:spPr>
          <a:xfrm>
            <a:off x="5511800" y="38100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analyze_one×N</a:t>
            </a:r>
            <a:endParaRPr lang="zh-CN" altLang="en-US" sz="1050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2201C47-07D5-46FF-9A69-6EC804292D2B}"/>
              </a:ext>
            </a:extLst>
          </p:cNvPr>
          <p:cNvSpPr/>
          <p:nvPr/>
        </p:nvSpPr>
        <p:spPr>
          <a:xfrm>
            <a:off x="6908800" y="2565400"/>
            <a:ext cx="1422400" cy="185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89346C4-4568-4E90-8515-CEF6BB5FA4CC}"/>
              </a:ext>
            </a:extLst>
          </p:cNvPr>
          <p:cNvSpPr txBox="1"/>
          <p:nvPr/>
        </p:nvSpPr>
        <p:spPr>
          <a:xfrm>
            <a:off x="7061200" y="27686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900" b="1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5FC4394-E299-4AF5-A265-7ED2506AF2C6}"/>
              </a:ext>
            </a:extLst>
          </p:cNvPr>
          <p:cNvSpPr txBox="1"/>
          <p:nvPr/>
        </p:nvSpPr>
        <p:spPr>
          <a:xfrm>
            <a:off x="7061200" y="3187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compare</a:t>
            </a:r>
            <a:endParaRPr lang="zh-CN" altLang="en-US" sz="1400" b="1">
              <a:solidFill>
                <a:srgbClr val="1423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FFC1DBF-48A6-4420-8B5F-42BB25D28D98}"/>
              </a:ext>
            </a:extLst>
          </p:cNvPr>
          <p:cNvSpPr txBox="1"/>
          <p:nvPr/>
        </p:nvSpPr>
        <p:spPr>
          <a:xfrm>
            <a:off x="7061200" y="38100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方法族与关系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609FB458-048F-47AF-9C40-685A120D1120}"/>
              </a:ext>
            </a:extLst>
          </p:cNvPr>
          <p:cNvSpPr/>
          <p:nvPr/>
        </p:nvSpPr>
        <p:spPr>
          <a:xfrm>
            <a:off x="8458200" y="2565400"/>
            <a:ext cx="1422400" cy="185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60533D3-CA6F-4846-BAEA-8D89D2BE8E37}"/>
              </a:ext>
            </a:extLst>
          </p:cNvPr>
          <p:cNvSpPr txBox="1"/>
          <p:nvPr/>
        </p:nvSpPr>
        <p:spPr>
          <a:xfrm>
            <a:off x="8610600" y="27686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endParaRPr lang="zh-CN" altLang="en-US" sz="900" b="1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1DDDA69-0F83-4CC7-A26A-76808E8645B8}"/>
              </a:ext>
            </a:extLst>
          </p:cNvPr>
          <p:cNvSpPr txBox="1"/>
          <p:nvPr/>
        </p:nvSpPr>
        <p:spPr>
          <a:xfrm>
            <a:off x="8610600" y="3187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write </a:t>
            </a:r>
            <a:r>
              <a:rPr lang="zh-CN" altLang="en-US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写作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3D3102F-4880-41D0-81A2-F14A892282D8}"/>
              </a:ext>
            </a:extLst>
          </p:cNvPr>
          <p:cNvSpPr txBox="1"/>
          <p:nvPr/>
        </p:nvSpPr>
        <p:spPr>
          <a:xfrm>
            <a:off x="8610600" y="38100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带证据的草稿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0DE7C18B-E844-4585-97B6-B91105DA05EC}"/>
              </a:ext>
            </a:extLst>
          </p:cNvPr>
          <p:cNvSpPr/>
          <p:nvPr/>
        </p:nvSpPr>
        <p:spPr>
          <a:xfrm>
            <a:off x="10007600" y="2565400"/>
            <a:ext cx="1422400" cy="1854200"/>
          </a:xfrm>
          <a:prstGeom prst="roundRect">
            <a:avLst/>
          </a:prstGeom>
          <a:solidFill>
            <a:srgbClr val="142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1094627-184C-4B04-982F-98D58BBE57E8}"/>
              </a:ext>
            </a:extLst>
          </p:cNvPr>
          <p:cNvSpPr txBox="1"/>
          <p:nvPr/>
        </p:nvSpPr>
        <p:spPr>
          <a:xfrm>
            <a:off x="10160000" y="27686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BEBEB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</a:t>
            </a:r>
            <a:endParaRPr lang="zh-CN" altLang="en-US" sz="900" b="1">
              <a:solidFill>
                <a:srgbClr val="BEBEB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1C7C928-4F51-4E2A-877B-6B485A5528A2}"/>
              </a:ext>
            </a:extLst>
          </p:cNvPr>
          <p:cNvSpPr txBox="1"/>
          <p:nvPr/>
        </p:nvSpPr>
        <p:spPr>
          <a:xfrm>
            <a:off x="10160000" y="3187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校验交付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CBFDDE9-6AE6-418E-91B6-4124B6F4D6BE}"/>
              </a:ext>
            </a:extLst>
          </p:cNvPr>
          <p:cNvSpPr txBox="1"/>
          <p:nvPr/>
        </p:nvSpPr>
        <p:spPr>
          <a:xfrm>
            <a:off x="10160000" y="38100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5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verify / finalize</a:t>
            </a:r>
            <a:endParaRPr lang="zh-CN" altLang="en-US" sz="1050">
              <a:solidFill>
                <a:srgbClr val="C8C8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3151283-9059-4DB2-BB89-2D1B10997DA9}"/>
              </a:ext>
            </a:extLst>
          </p:cNvPr>
          <p:cNvCxnSpPr/>
          <p:nvPr/>
        </p:nvCxnSpPr>
        <p:spPr>
          <a:xfrm>
            <a:off x="1117600" y="4851400"/>
            <a:ext cx="9956800" cy="0"/>
          </a:xfrm>
          <a:prstGeom prst="line">
            <a:avLst/>
          </a:prstGeom>
          <a:ln w="15240">
            <a:solidFill>
              <a:srgbClr val="B4BE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76C53ADF-C092-460A-8B0E-D5A22EF55D86}"/>
              </a:ext>
            </a:extLst>
          </p:cNvPr>
          <p:cNvSpPr txBox="1"/>
          <p:nvPr/>
        </p:nvSpPr>
        <p:spPr>
          <a:xfrm>
            <a:off x="1422400" y="50419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verify → revise → verify</a:t>
            </a:r>
            <a:endParaRPr lang="zh-CN" altLang="en-US" sz="1100" b="1">
              <a:solidFill>
                <a:srgbClr val="0E7C8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C999F13-340F-444B-B489-2618A2BD1906}"/>
              </a:ext>
            </a:extLst>
          </p:cNvPr>
          <p:cNvSpPr txBox="1"/>
          <p:nvPr/>
        </p:nvSpPr>
        <p:spPr>
          <a:xfrm>
            <a:off x="4114800" y="5003800"/>
            <a:ext cx="701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5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先在同篇论文内重挂更合适的 </a:t>
            </a:r>
            <a:r>
              <a:rPr lang="en-US" altLang="zh-CN" sz="135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Span</a:t>
            </a:r>
            <a:r>
              <a:rPr lang="zh-CN" altLang="en-US" sz="135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；修不好再删除，最多两轮。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C11823F-7F59-490F-A86E-BCAD26E70DD4}"/>
              </a:ext>
            </a:extLst>
          </p:cNvPr>
          <p:cNvSpPr txBox="1"/>
          <p:nvPr/>
        </p:nvSpPr>
        <p:spPr>
          <a:xfrm>
            <a:off x="1422400" y="56261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Web </a:t>
            </a:r>
            <a:r>
              <a:rPr lang="zh-CN" altLang="en-US" sz="12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端通过 </a:t>
            </a:r>
            <a:r>
              <a:rPr lang="en-US" altLang="zh-CN" sz="12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SSE </a:t>
            </a:r>
            <a:r>
              <a:rPr lang="zh-CN" altLang="en-US" sz="12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实时展示阶段日志；</a:t>
            </a:r>
            <a:r>
              <a:rPr lang="en-US" altLang="zh-CN" sz="12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trace.jsonl </a:t>
            </a:r>
            <a:r>
              <a:rPr lang="zh-CN" altLang="en-US" sz="12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 </a:t>
            </a:r>
            <a:r>
              <a:rPr lang="en-US" altLang="zh-CN" sz="12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state.json </a:t>
            </a:r>
            <a:r>
              <a:rPr lang="zh-CN" altLang="en-US" sz="12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用于复盘每一次运行。</a:t>
            </a:r>
          </a:p>
        </p:txBody>
      </p:sp>
    </p:spTree>
    <p:extLst>
      <p:ext uri="{BB962C8B-B14F-4D97-AF65-F5344CB8AC3E}">
        <p14:creationId xmlns:p14="http://schemas.microsoft.com/office/powerpoint/2010/main" val="1297176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89A339F-ED7E-4A37-BACA-87CF11649A02}"/>
              </a:ext>
            </a:extLst>
          </p:cNvPr>
          <p:cNvSpPr txBox="1"/>
          <p:nvPr/>
        </p:nvSpPr>
        <p:spPr>
          <a:xfrm>
            <a:off x="711200" y="2794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  /  </a:t>
            </a:r>
            <a:r>
              <a:rPr lang="zh-CN" altLang="en-US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文献检索模块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F5A74B-1F7D-46B5-B53B-288641B1D7BE}"/>
              </a:ext>
            </a:extLst>
          </p:cNvPr>
          <p:cNvSpPr txBox="1"/>
          <p:nvPr/>
        </p:nvSpPr>
        <p:spPr>
          <a:xfrm>
            <a:off x="711200" y="5715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7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多路检索与全文获取都已跑通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A89602-12F9-474F-AE42-50F3356C504C}"/>
              </a:ext>
            </a:extLst>
          </p:cNvPr>
          <p:cNvSpPr txBox="1"/>
          <p:nvPr/>
        </p:nvSpPr>
        <p:spPr>
          <a:xfrm>
            <a:off x="711200" y="12192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检索结果先形成可以复查的论文集，再逐篇取全文、分节成 Span，进入读卡与写作。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15DCD2F-9A4D-44A1-BF41-8A44A594FA7B}"/>
              </a:ext>
            </a:extLst>
          </p:cNvPr>
          <p:cNvCxnSpPr/>
          <p:nvPr/>
        </p:nvCxnSpPr>
        <p:spPr>
          <a:xfrm>
            <a:off x="711200" y="1612900"/>
            <a:ext cx="10769600" cy="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093E2CB-7910-4B15-B304-B3D9DEB4E844}"/>
              </a:ext>
            </a:extLst>
          </p:cNvPr>
          <p:cNvCxnSpPr/>
          <p:nvPr/>
        </p:nvCxnSpPr>
        <p:spPr>
          <a:xfrm>
            <a:off x="711200" y="1612900"/>
            <a:ext cx="838200" cy="0"/>
          </a:xfrm>
          <a:prstGeom prst="line">
            <a:avLst/>
          </a:prstGeom>
          <a:ln w="25400">
            <a:solidFill>
              <a:srgbClr val="0E7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7F3795B-10A4-4D77-BFC5-EBB5C70D0304}"/>
              </a:ext>
            </a:extLst>
          </p:cNvPr>
          <p:cNvCxnSpPr/>
          <p:nvPr/>
        </p:nvCxnSpPr>
        <p:spPr>
          <a:xfrm>
            <a:off x="711200" y="6502400"/>
            <a:ext cx="10769600" cy="0"/>
          </a:xfrm>
          <a:prstGeom prst="line">
            <a:avLst/>
          </a:prstGeom>
          <a:ln w="889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DBFD874-6624-4EF2-8828-89B66351D1B0}"/>
              </a:ext>
            </a:extLst>
          </p:cNvPr>
          <p:cNvSpPr txBox="1"/>
          <p:nvPr/>
        </p:nvSpPr>
        <p:spPr>
          <a:xfrm>
            <a:off x="711200" y="66040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8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基于多智能体协同的科研文献智能综述生成系统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7177577-08DC-40DE-A9BB-2BDFE2CE1B7F}"/>
              </a:ext>
            </a:extLst>
          </p:cNvPr>
          <p:cNvSpPr txBox="1"/>
          <p:nvPr/>
        </p:nvSpPr>
        <p:spPr>
          <a:xfrm>
            <a:off x="10998200" y="6604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8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</a:t>
            </a:r>
            <a:endParaRPr lang="zh-CN" altLang="en-US" sz="800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7FD829E-0E30-429A-971D-FAF2C61C0BA1}"/>
              </a:ext>
            </a:extLst>
          </p:cNvPr>
          <p:cNvSpPr/>
          <p:nvPr/>
        </p:nvSpPr>
        <p:spPr>
          <a:xfrm>
            <a:off x="711200" y="1930400"/>
            <a:ext cx="33782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E0E2187-9902-4537-BDDF-FA932F918E10}"/>
              </a:ext>
            </a:extLst>
          </p:cNvPr>
          <p:cNvSpPr/>
          <p:nvPr/>
        </p:nvSpPr>
        <p:spPr>
          <a:xfrm>
            <a:off x="939800" y="2159000"/>
            <a:ext cx="355600" cy="355600"/>
          </a:xfrm>
          <a:prstGeom prst="ellipse">
            <a:avLst/>
          </a:prstGeom>
          <a:solidFill>
            <a:srgbClr val="142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5C3817C-DCCA-4181-9EB6-35F045ADC6EF}"/>
              </a:ext>
            </a:extLst>
          </p:cNvPr>
          <p:cNvSpPr txBox="1"/>
          <p:nvPr/>
        </p:nvSpPr>
        <p:spPr>
          <a:xfrm>
            <a:off x="939800" y="21717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6D649B2-0D68-44A4-B9F9-7E6F47B9AE6E}"/>
              </a:ext>
            </a:extLst>
          </p:cNvPr>
          <p:cNvSpPr txBox="1"/>
          <p:nvPr/>
        </p:nvSpPr>
        <p:spPr>
          <a:xfrm>
            <a:off x="939800" y="27178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围绕主题生成多路查询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80A4119-8939-4BB5-8BED-9BF07EE7AEEB}"/>
              </a:ext>
            </a:extLst>
          </p:cNvPr>
          <p:cNvSpPr txBox="1"/>
          <p:nvPr/>
        </p:nvSpPr>
        <p:spPr>
          <a:xfrm>
            <a:off x="939800" y="3429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定义与核心概念
</a:t>
            </a:r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survey 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与代表工作
</a:t>
            </a:r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benchmark 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与实验评测
</a:t>
            </a:r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challenge 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与研究难点
保留每次查询及命中数量。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A296E76-F45A-47E8-9035-0AC5F07D7B3D}"/>
              </a:ext>
            </a:extLst>
          </p:cNvPr>
          <p:cNvSpPr/>
          <p:nvPr/>
        </p:nvSpPr>
        <p:spPr>
          <a:xfrm>
            <a:off x="4406900" y="1930400"/>
            <a:ext cx="33782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12B754BC-AF59-4421-8A19-8F81646DDC32}"/>
              </a:ext>
            </a:extLst>
          </p:cNvPr>
          <p:cNvSpPr/>
          <p:nvPr/>
        </p:nvSpPr>
        <p:spPr>
          <a:xfrm>
            <a:off x="4635500" y="2159000"/>
            <a:ext cx="355600" cy="355600"/>
          </a:xfrm>
          <a:prstGeom prst="ellipse">
            <a:avLst/>
          </a:prstGeom>
          <a:solidFill>
            <a:srgbClr val="142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F968BEC-AA4B-43DA-B20F-8E681726041D}"/>
              </a:ext>
            </a:extLst>
          </p:cNvPr>
          <p:cNvSpPr txBox="1"/>
          <p:nvPr/>
        </p:nvSpPr>
        <p:spPr>
          <a:xfrm>
            <a:off x="4635500" y="21717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59E05F7-055D-483A-8061-F16FC44D82BE}"/>
              </a:ext>
            </a:extLst>
          </p:cNvPr>
          <p:cNvSpPr txBox="1"/>
          <p:nvPr/>
        </p:nvSpPr>
        <p:spPr>
          <a:xfrm>
            <a:off x="4635500" y="27178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 </a:t>
            </a:r>
            <a:r>
              <a:rPr lang="en-US" altLang="zh-CN" sz="16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arXiv </a:t>
            </a:r>
            <a:r>
              <a:rPr lang="zh-CN" altLang="en-US" sz="16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获取并去重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5EB2067-DCDB-4B74-9F72-2E94EA8C4594}"/>
              </a:ext>
            </a:extLst>
          </p:cNvPr>
          <p:cNvSpPr txBox="1"/>
          <p:nvPr/>
        </p:nvSpPr>
        <p:spPr>
          <a:xfrm>
            <a:off x="4635500" y="3429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 </a:t>
            </a:r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arXiv Atom API
• 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磁盘缓存与请求间隔
</a:t>
            </a:r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按论文 </a:t>
            </a:r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ID 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合并结果
</a:t>
            </a:r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可选 </a:t>
            </a:r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Semantic Scholar 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引用扩展
失败查询会记录，不静默假装成功。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FBBD931-5971-4ED7-A62E-136E2BEA0D8C}"/>
              </a:ext>
            </a:extLst>
          </p:cNvPr>
          <p:cNvSpPr/>
          <p:nvPr/>
        </p:nvSpPr>
        <p:spPr>
          <a:xfrm>
            <a:off x="8102600" y="1930400"/>
            <a:ext cx="33782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705991D4-A56F-4556-953E-9F39A1588943}"/>
              </a:ext>
            </a:extLst>
          </p:cNvPr>
          <p:cNvSpPr/>
          <p:nvPr/>
        </p:nvSpPr>
        <p:spPr>
          <a:xfrm>
            <a:off x="8331200" y="2159000"/>
            <a:ext cx="355600" cy="355600"/>
          </a:xfrm>
          <a:prstGeom prst="ellipse">
            <a:avLst/>
          </a:prstGeom>
          <a:solidFill>
            <a:srgbClr val="142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5BB1C61-9515-48DD-B21B-24A20D39A6AA}"/>
              </a:ext>
            </a:extLst>
          </p:cNvPr>
          <p:cNvSpPr txBox="1"/>
          <p:nvPr/>
        </p:nvSpPr>
        <p:spPr>
          <a:xfrm>
            <a:off x="8331200" y="21717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2D7330F-00B3-41BB-999A-714444BE39EE}"/>
              </a:ext>
            </a:extLst>
          </p:cNvPr>
          <p:cNvSpPr txBox="1"/>
          <p:nvPr/>
        </p:nvSpPr>
        <p:spPr>
          <a:xfrm>
            <a:off x="8331200" y="27178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RRF </a:t>
            </a:r>
            <a:r>
              <a:rPr lang="zh-CN" altLang="en-US" sz="16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融合后建立论文集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8E45F19-6A50-4BFE-B44C-D410706B0A80}"/>
              </a:ext>
            </a:extLst>
          </p:cNvPr>
          <p:cNvSpPr txBox="1"/>
          <p:nvPr/>
        </p:nvSpPr>
        <p:spPr>
          <a:xfrm>
            <a:off x="8331200" y="3429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按多路查询名次进行 </a:t>
            </a:r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RRF 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融合
</a:t>
            </a:r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 </a:t>
            </a:r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max_papers 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控制任务规模
</a:t>
            </a:r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build_corpus 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生成可引用 </a:t>
            </a:r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Span
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 </a:t>
            </a:r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Span 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来自全文；四级回退，失败时用摘要。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86E76E9-511F-4812-A59A-A966A13CD465}"/>
              </a:ext>
            </a:extLst>
          </p:cNvPr>
          <p:cNvSpPr/>
          <p:nvPr/>
        </p:nvSpPr>
        <p:spPr>
          <a:xfrm>
            <a:off x="711200" y="5613400"/>
            <a:ext cx="10769600" cy="482600"/>
          </a:xfrm>
          <a:prstGeom prst="roundRect">
            <a:avLst/>
          </a:prstGeom>
          <a:solidFill>
            <a:srgbClr val="F0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4AF7043-56BC-4411-B1E4-D4CF38A007EA}"/>
              </a:ext>
            </a:extLst>
          </p:cNvPr>
          <p:cNvSpPr txBox="1"/>
          <p:nvPr/>
        </p:nvSpPr>
        <p:spPr>
          <a:xfrm>
            <a:off x="965200" y="5715000"/>
            <a:ext cx="1026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每级来源都记进 stats.fulltext；“读了什么”与证据范围保持一致。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1626296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78DCDB6-86FD-4892-BFFE-4AFBCD03696A}"/>
              </a:ext>
            </a:extLst>
          </p:cNvPr>
          <p:cNvSpPr txBox="1"/>
          <p:nvPr/>
        </p:nvSpPr>
        <p:spPr>
          <a:xfrm>
            <a:off x="711200" y="2794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  /  RAG </a:t>
            </a:r>
            <a:r>
              <a:rPr lang="zh-CN" altLang="en-US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与证据库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74DB4FD-338C-45C6-836A-9275D3FBB969}"/>
              </a:ext>
            </a:extLst>
          </p:cNvPr>
          <p:cNvSpPr txBox="1"/>
          <p:nvPr/>
        </p:nvSpPr>
        <p:spPr>
          <a:xfrm>
            <a:off x="711200" y="5715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7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BM25 + </a:t>
            </a:r>
            <a:r>
              <a:rPr lang="zh-CN" altLang="en-US" sz="27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向量召回已经接入，但降级路径要说清楚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643ACBA-6127-452A-BE5F-C4171AC41D95}"/>
              </a:ext>
            </a:extLst>
          </p:cNvPr>
          <p:cNvSpPr txBox="1"/>
          <p:nvPr/>
        </p:nvSpPr>
        <p:spPr>
          <a:xfrm>
            <a:off x="711200" y="12192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PassageIndex </a:t>
            </a:r>
            <a:r>
              <a:rPr lang="zh-CN" altLang="en-US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 </a:t>
            </a:r>
            <a:r>
              <a:rPr lang="en-US" altLang="zh-CN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RRF </a:t>
            </a:r>
            <a:r>
              <a:rPr lang="zh-CN" altLang="en-US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融合两路结果，再做启发式重排，为写作阶段扩充证据白名单。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F06F3C0-A190-40D1-AAFB-F75DE31576E1}"/>
              </a:ext>
            </a:extLst>
          </p:cNvPr>
          <p:cNvCxnSpPr/>
          <p:nvPr/>
        </p:nvCxnSpPr>
        <p:spPr>
          <a:xfrm>
            <a:off x="711200" y="1612900"/>
            <a:ext cx="10769600" cy="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7342904-3F27-46E5-985E-27F3053D56D0}"/>
              </a:ext>
            </a:extLst>
          </p:cNvPr>
          <p:cNvCxnSpPr/>
          <p:nvPr/>
        </p:nvCxnSpPr>
        <p:spPr>
          <a:xfrm>
            <a:off x="711200" y="1612900"/>
            <a:ext cx="838200" cy="0"/>
          </a:xfrm>
          <a:prstGeom prst="line">
            <a:avLst/>
          </a:prstGeom>
          <a:ln w="25400">
            <a:solidFill>
              <a:srgbClr val="0E7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24D4EF2-BCAB-4941-BA27-BE6075930C5E}"/>
              </a:ext>
            </a:extLst>
          </p:cNvPr>
          <p:cNvCxnSpPr/>
          <p:nvPr/>
        </p:nvCxnSpPr>
        <p:spPr>
          <a:xfrm>
            <a:off x="711200" y="6502400"/>
            <a:ext cx="10769600" cy="0"/>
          </a:xfrm>
          <a:prstGeom prst="line">
            <a:avLst/>
          </a:prstGeom>
          <a:ln w="889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80BD953-B0A3-4C94-9695-326224F8F036}"/>
              </a:ext>
            </a:extLst>
          </p:cNvPr>
          <p:cNvSpPr txBox="1"/>
          <p:nvPr/>
        </p:nvSpPr>
        <p:spPr>
          <a:xfrm>
            <a:off x="711200" y="66040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8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基于多智能体协同的科研文献智能综述生成系统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48609A5-9811-4D5F-8E5F-F990EB54CFDB}"/>
              </a:ext>
            </a:extLst>
          </p:cNvPr>
          <p:cNvSpPr txBox="1"/>
          <p:nvPr/>
        </p:nvSpPr>
        <p:spPr>
          <a:xfrm>
            <a:off x="10998200" y="6604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8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</a:t>
            </a:r>
            <a:endParaRPr lang="zh-CN" altLang="en-US" sz="800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0711CEE-626F-4A10-8777-980064D66F46}"/>
              </a:ext>
            </a:extLst>
          </p:cNvPr>
          <p:cNvSpPr/>
          <p:nvPr/>
        </p:nvSpPr>
        <p:spPr>
          <a:xfrm>
            <a:off x="736600" y="1993900"/>
            <a:ext cx="330200" cy="330200"/>
          </a:xfrm>
          <a:prstGeom prst="ellipse">
            <a:avLst/>
          </a:prstGeom>
          <a:solidFill>
            <a:srgbClr val="F0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C8F5341-614C-4FC5-BF06-D58237E144B9}"/>
              </a:ext>
            </a:extLst>
          </p:cNvPr>
          <p:cNvSpPr txBox="1"/>
          <p:nvPr/>
        </p:nvSpPr>
        <p:spPr>
          <a:xfrm>
            <a:off x="736600" y="20066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100" b="1">
              <a:solidFill>
                <a:srgbClr val="1423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332E33E-1B01-4A2A-A995-E3911767A36B}"/>
              </a:ext>
            </a:extLst>
          </p:cNvPr>
          <p:cNvSpPr txBox="1"/>
          <p:nvPr/>
        </p:nvSpPr>
        <p:spPr>
          <a:xfrm>
            <a:off x="1295400" y="19050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建立 </a:t>
            </a:r>
            <a:r>
              <a:rPr lang="en-US" altLang="zh-CN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Span</a:t>
            </a:r>
            <a:endParaRPr lang="zh-CN" altLang="en-US" sz="1400" b="1">
              <a:solidFill>
                <a:srgbClr val="1423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35D5D95-3EB9-426F-AEEA-78148AC2A062}"/>
              </a:ext>
            </a:extLst>
          </p:cNvPr>
          <p:cNvSpPr txBox="1"/>
          <p:nvPr/>
        </p:nvSpPr>
        <p:spPr>
          <a:xfrm>
            <a:off x="2717800" y="19050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把论文全文变成可定位、可引用的证据片段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08933C2-0F41-45E2-AFF2-0BC35FBB2D2D}"/>
              </a:ext>
            </a:extLst>
          </p:cNvPr>
          <p:cNvCxnSpPr/>
          <p:nvPr/>
        </p:nvCxnSpPr>
        <p:spPr>
          <a:xfrm>
            <a:off x="901700" y="2349500"/>
            <a:ext cx="0" cy="34290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>
            <a:extLst>
              <a:ext uri="{FF2B5EF4-FFF2-40B4-BE49-F238E27FC236}">
                <a16:creationId xmlns:a16="http://schemas.microsoft.com/office/drawing/2014/main" id="{CC0571CC-F569-44C4-A374-5D014BFAC197}"/>
              </a:ext>
            </a:extLst>
          </p:cNvPr>
          <p:cNvSpPr/>
          <p:nvPr/>
        </p:nvSpPr>
        <p:spPr>
          <a:xfrm>
            <a:off x="736600" y="2730500"/>
            <a:ext cx="330200" cy="330200"/>
          </a:xfrm>
          <a:prstGeom prst="ellipse">
            <a:avLst/>
          </a:prstGeom>
          <a:solidFill>
            <a:srgbClr val="F0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F67F3CF-6BDE-4A26-B01E-86D8CCFAAED4}"/>
              </a:ext>
            </a:extLst>
          </p:cNvPr>
          <p:cNvSpPr txBox="1"/>
          <p:nvPr/>
        </p:nvSpPr>
        <p:spPr>
          <a:xfrm>
            <a:off x="736600" y="27432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100" b="1">
              <a:solidFill>
                <a:srgbClr val="1423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BC42346-C2EE-4B27-BF5D-FCFCB10CCB2D}"/>
              </a:ext>
            </a:extLst>
          </p:cNvPr>
          <p:cNvSpPr txBox="1"/>
          <p:nvPr/>
        </p:nvSpPr>
        <p:spPr>
          <a:xfrm>
            <a:off x="1295400" y="26416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两路召回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544CE9B-B3B2-4602-9E2F-E957408B8245}"/>
              </a:ext>
            </a:extLst>
          </p:cNvPr>
          <p:cNvSpPr txBox="1"/>
          <p:nvPr/>
        </p:nvSpPr>
        <p:spPr>
          <a:xfrm>
            <a:off x="2717800" y="26416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BM25 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检索明确术语，向量检索补充相似表达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23AA8F6-656A-4276-A396-D9107E1DAF53}"/>
              </a:ext>
            </a:extLst>
          </p:cNvPr>
          <p:cNvCxnSpPr/>
          <p:nvPr/>
        </p:nvCxnSpPr>
        <p:spPr>
          <a:xfrm>
            <a:off x="901700" y="3086100"/>
            <a:ext cx="0" cy="34290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5958B011-23DB-455D-A08F-86622DDDA7B1}"/>
              </a:ext>
            </a:extLst>
          </p:cNvPr>
          <p:cNvSpPr/>
          <p:nvPr/>
        </p:nvSpPr>
        <p:spPr>
          <a:xfrm>
            <a:off x="736600" y="3467100"/>
            <a:ext cx="330200" cy="330200"/>
          </a:xfrm>
          <a:prstGeom prst="ellipse">
            <a:avLst/>
          </a:prstGeom>
          <a:solidFill>
            <a:srgbClr val="F0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8587949-5B35-488B-A233-C1B994DEA414}"/>
              </a:ext>
            </a:extLst>
          </p:cNvPr>
          <p:cNvSpPr txBox="1"/>
          <p:nvPr/>
        </p:nvSpPr>
        <p:spPr>
          <a:xfrm>
            <a:off x="736600" y="34798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100" b="1">
              <a:solidFill>
                <a:srgbClr val="1423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CCCAC53-0C69-422B-975D-CB98CD8846A8}"/>
              </a:ext>
            </a:extLst>
          </p:cNvPr>
          <p:cNvSpPr txBox="1"/>
          <p:nvPr/>
        </p:nvSpPr>
        <p:spPr>
          <a:xfrm>
            <a:off x="1295400" y="33782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RRF </a:t>
            </a:r>
            <a:r>
              <a:rPr lang="zh-CN" altLang="en-US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融合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1AA87ED-C77D-4CF5-B102-3F2C7025E18F}"/>
              </a:ext>
            </a:extLst>
          </p:cNvPr>
          <p:cNvSpPr txBox="1"/>
          <p:nvPr/>
        </p:nvSpPr>
        <p:spPr>
          <a:xfrm>
            <a:off x="2717800" y="33782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按两路名次融合，避免直接比较不同分数尺度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95C0571A-C69B-4CCD-BBD6-6A483D62AA1C}"/>
              </a:ext>
            </a:extLst>
          </p:cNvPr>
          <p:cNvCxnSpPr/>
          <p:nvPr/>
        </p:nvCxnSpPr>
        <p:spPr>
          <a:xfrm>
            <a:off x="901700" y="3822700"/>
            <a:ext cx="0" cy="34290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>
            <a:extLst>
              <a:ext uri="{FF2B5EF4-FFF2-40B4-BE49-F238E27FC236}">
                <a16:creationId xmlns:a16="http://schemas.microsoft.com/office/drawing/2014/main" id="{62BA15A5-9BA7-4E18-B564-7E50E0A5A4FA}"/>
              </a:ext>
            </a:extLst>
          </p:cNvPr>
          <p:cNvSpPr/>
          <p:nvPr/>
        </p:nvSpPr>
        <p:spPr>
          <a:xfrm>
            <a:off x="736600" y="4203700"/>
            <a:ext cx="330200" cy="330200"/>
          </a:xfrm>
          <a:prstGeom prst="ellipse">
            <a:avLst/>
          </a:prstGeom>
          <a:solidFill>
            <a:srgbClr val="F0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9B11647-A7A7-4AE7-BF76-1621B3CC2F05}"/>
              </a:ext>
            </a:extLst>
          </p:cNvPr>
          <p:cNvSpPr txBox="1"/>
          <p:nvPr/>
        </p:nvSpPr>
        <p:spPr>
          <a:xfrm>
            <a:off x="736600" y="42164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100" b="1">
              <a:solidFill>
                <a:srgbClr val="1423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0CB711D-2FAF-4FE0-B2BE-90650106713A}"/>
              </a:ext>
            </a:extLst>
          </p:cNvPr>
          <p:cNvSpPr txBox="1"/>
          <p:nvPr/>
        </p:nvSpPr>
        <p:spPr>
          <a:xfrm>
            <a:off x="1295400" y="41148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启发式重排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2BD4D82-345A-4FC3-9F2C-C6DD5FB6077E}"/>
              </a:ext>
            </a:extLst>
          </p:cNvPr>
          <p:cNvSpPr txBox="1"/>
          <p:nvPr/>
        </p:nvSpPr>
        <p:spPr>
          <a:xfrm>
            <a:off x="2717800" y="41148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查询词覆盖 </a:t>
            </a:r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精确短语加分；</a:t>
            </a:r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cross-encoder 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尚未接入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29A15F2-1D9E-43E7-B00B-4D83F4B514A3}"/>
              </a:ext>
            </a:extLst>
          </p:cNvPr>
          <p:cNvCxnSpPr/>
          <p:nvPr/>
        </p:nvCxnSpPr>
        <p:spPr>
          <a:xfrm>
            <a:off x="901700" y="4559300"/>
            <a:ext cx="0" cy="34290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椭圆 29">
            <a:extLst>
              <a:ext uri="{FF2B5EF4-FFF2-40B4-BE49-F238E27FC236}">
                <a16:creationId xmlns:a16="http://schemas.microsoft.com/office/drawing/2014/main" id="{86342CCE-60AA-4163-8A7B-1FB11600050D}"/>
              </a:ext>
            </a:extLst>
          </p:cNvPr>
          <p:cNvSpPr/>
          <p:nvPr/>
        </p:nvSpPr>
        <p:spPr>
          <a:xfrm>
            <a:off x="736600" y="4940300"/>
            <a:ext cx="330200" cy="330200"/>
          </a:xfrm>
          <a:prstGeom prst="ellipse">
            <a:avLst/>
          </a:prstGeom>
          <a:solidFill>
            <a:srgbClr val="142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E3FDB0E-C671-49B9-8602-D1EB419B38AC}"/>
              </a:ext>
            </a:extLst>
          </p:cNvPr>
          <p:cNvSpPr txBox="1"/>
          <p:nvPr/>
        </p:nvSpPr>
        <p:spPr>
          <a:xfrm>
            <a:off x="736600" y="49530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2291708-C8C1-4074-82E2-8DB01CA1CEA5}"/>
              </a:ext>
            </a:extLst>
          </p:cNvPr>
          <p:cNvSpPr txBox="1"/>
          <p:nvPr/>
        </p:nvSpPr>
        <p:spPr>
          <a:xfrm>
            <a:off x="1295400" y="48514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证据白名单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09D7282-A408-4B09-A5D5-ADF16835910D}"/>
              </a:ext>
            </a:extLst>
          </p:cNvPr>
          <p:cNvSpPr txBox="1"/>
          <p:nvPr/>
        </p:nvSpPr>
        <p:spPr>
          <a:xfrm>
            <a:off x="2717800" y="48514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写作时补充同族论文中更贴题的片段，并保留 </a:t>
            </a:r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span_id</a:t>
            </a:r>
            <a:endParaRPr lang="zh-CN" altLang="en-US" sz="1150">
              <a:solidFill>
                <a:srgbClr val="333D4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936544F5-2C26-49E7-A8E9-06173EAA9E4E}"/>
              </a:ext>
            </a:extLst>
          </p:cNvPr>
          <p:cNvSpPr/>
          <p:nvPr/>
        </p:nvSpPr>
        <p:spPr>
          <a:xfrm>
            <a:off x="7747000" y="1905000"/>
            <a:ext cx="3733800" cy="3479800"/>
          </a:xfrm>
          <a:prstGeom prst="roundRect">
            <a:avLst/>
          </a:prstGeom>
          <a:solidFill>
            <a:srgbClr val="142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5547C32-8C93-48BA-BF90-3140CA5655A3}"/>
              </a:ext>
            </a:extLst>
          </p:cNvPr>
          <p:cNvSpPr txBox="1"/>
          <p:nvPr/>
        </p:nvSpPr>
        <p:spPr>
          <a:xfrm>
            <a:off x="8051800" y="21844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证据片段示例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668C2CF-98C0-44EC-B612-AC26F26B1A00}"/>
              </a:ext>
            </a:extLst>
          </p:cNvPr>
          <p:cNvSpPr txBox="1"/>
          <p:nvPr/>
        </p:nvSpPr>
        <p:spPr>
          <a:xfrm>
            <a:off x="8051800" y="27305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50">
                <a:solidFill>
                  <a:srgbClr val="DCDCD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paper_id   arXiv:xxxx.xxxxx
span_id    </a:t>
            </a:r>
            <a:r>
              <a:rPr lang="zh-CN" altLang="en-US" sz="1150">
                <a:solidFill>
                  <a:srgbClr val="DCDCD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章节+序号
</a:t>
            </a:r>
            <a:r>
              <a:rPr lang="en-US" altLang="zh-CN" sz="1150">
                <a:solidFill>
                  <a:srgbClr val="DCDCD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source     arxiv-html
backend    hash-3gram-512
text       </a:t>
            </a:r>
            <a:r>
              <a:rPr lang="zh-CN" altLang="en-US" sz="1150">
                <a:solidFill>
                  <a:srgbClr val="DCDCD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章节原文片段</a:t>
            </a:r>
            <a:r>
              <a:rPr lang="en-US" altLang="zh-CN" sz="1150">
                <a:solidFill>
                  <a:srgbClr val="DCDCD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……
source_url </a:t>
            </a:r>
            <a:r>
              <a:rPr lang="zh-CN" altLang="en-US" sz="1150">
                <a:solidFill>
                  <a:srgbClr val="DCDCD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论文链接</a:t>
            </a: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F0544944-DD52-4907-9B1F-63B81B8ED983}"/>
              </a:ext>
            </a:extLst>
          </p:cNvPr>
          <p:cNvCxnSpPr/>
          <p:nvPr/>
        </p:nvCxnSpPr>
        <p:spPr>
          <a:xfrm>
            <a:off x="8051800" y="4635500"/>
            <a:ext cx="309880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8D116BF6-17DE-40F5-A5E9-B8852908A090}"/>
              </a:ext>
            </a:extLst>
          </p:cNvPr>
          <p:cNvSpPr txBox="1"/>
          <p:nvPr/>
        </p:nvSpPr>
        <p:spPr>
          <a:xfrm>
            <a:off x="8051800" y="4851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正文引用保留到 </a:t>
            </a:r>
            <a:r>
              <a:rPr lang="en-US" altLang="zh-CN" sz="11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Span</a:t>
            </a:r>
            <a:r>
              <a:rPr lang="zh-CN" altLang="en-US" sz="11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，用户可以在阅读页查看对应章节片段并打开 </a:t>
            </a:r>
            <a:r>
              <a:rPr lang="en-US" altLang="zh-CN" sz="11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arXiv</a:t>
            </a:r>
            <a:r>
              <a:rPr lang="zh-CN" altLang="en-US" sz="11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6B222AA-6D6E-4E50-B4B2-BFF34D245C5E}"/>
              </a:ext>
            </a:extLst>
          </p:cNvPr>
          <p:cNvSpPr txBox="1"/>
          <p:nvPr/>
        </p:nvSpPr>
        <p:spPr>
          <a:xfrm>
            <a:off x="812800" y="57912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没有 </a:t>
            </a:r>
            <a:r>
              <a:rPr lang="en-US" altLang="zh-CN" sz="1150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embedding </a:t>
            </a:r>
            <a:r>
              <a:rPr lang="zh-CN" altLang="en-US" sz="1150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服务时使用字符 </a:t>
            </a:r>
            <a:r>
              <a:rPr lang="en-US" altLang="zh-CN" sz="1150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3-gram </a:t>
            </a:r>
            <a:r>
              <a:rPr lang="zh-CN" altLang="en-US" sz="1150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哈希向量：它只补充词形召回，不是语义模型；</a:t>
            </a:r>
            <a:r>
              <a:rPr lang="en-US" altLang="zh-CN" sz="1150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stats </a:t>
            </a:r>
            <a:r>
              <a:rPr lang="zh-CN" altLang="en-US" sz="1150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会记录真实 </a:t>
            </a:r>
            <a:r>
              <a:rPr lang="en-US" altLang="zh-CN" sz="1150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backend</a:t>
            </a:r>
            <a:r>
              <a:rPr lang="zh-CN" altLang="en-US" sz="1150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95536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E36098D-C0F5-42BE-9EC3-4A5BE668F475}"/>
              </a:ext>
            </a:extLst>
          </p:cNvPr>
          <p:cNvSpPr txBox="1"/>
          <p:nvPr/>
        </p:nvSpPr>
        <p:spPr>
          <a:xfrm>
            <a:off x="711200" y="2794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  /  </a:t>
            </a:r>
            <a:r>
              <a:rPr lang="zh-CN" altLang="en-US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内容分析与对比分析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087620-4200-492D-B08B-DCC9BB08976C}"/>
              </a:ext>
            </a:extLst>
          </p:cNvPr>
          <p:cNvSpPr txBox="1"/>
          <p:nvPr/>
        </p:nvSpPr>
        <p:spPr>
          <a:xfrm>
            <a:off x="711200" y="5715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7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先读成结构化卡片，再做可复现的启发式比较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35CBEB-DFAC-4483-97AD-254954D9BFF6}"/>
              </a:ext>
            </a:extLst>
          </p:cNvPr>
          <p:cNvSpPr txBox="1"/>
          <p:nvPr/>
        </p:nvSpPr>
        <p:spPr>
          <a:xfrm>
            <a:off x="711200" y="12192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当前实现强调稳定与可检查；聚类、演进和冲突检测的边界也直接写出来。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BDA192-32C9-4A16-BB94-2E14FB8F01D4}"/>
              </a:ext>
            </a:extLst>
          </p:cNvPr>
          <p:cNvCxnSpPr/>
          <p:nvPr/>
        </p:nvCxnSpPr>
        <p:spPr>
          <a:xfrm>
            <a:off x="711200" y="1612900"/>
            <a:ext cx="10769600" cy="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70618EA-B0DE-4254-8CE3-103852DC6825}"/>
              </a:ext>
            </a:extLst>
          </p:cNvPr>
          <p:cNvCxnSpPr/>
          <p:nvPr/>
        </p:nvCxnSpPr>
        <p:spPr>
          <a:xfrm>
            <a:off x="711200" y="1612900"/>
            <a:ext cx="838200" cy="0"/>
          </a:xfrm>
          <a:prstGeom prst="line">
            <a:avLst/>
          </a:prstGeom>
          <a:ln w="25400">
            <a:solidFill>
              <a:srgbClr val="0E7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4577882-39BC-45B0-9028-E9825AFCB5A8}"/>
              </a:ext>
            </a:extLst>
          </p:cNvPr>
          <p:cNvCxnSpPr/>
          <p:nvPr/>
        </p:nvCxnSpPr>
        <p:spPr>
          <a:xfrm>
            <a:off x="711200" y="6502400"/>
            <a:ext cx="10769600" cy="0"/>
          </a:xfrm>
          <a:prstGeom prst="line">
            <a:avLst/>
          </a:prstGeom>
          <a:ln w="889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E345E34-FF0F-4941-B9B3-43E14B2C1567}"/>
              </a:ext>
            </a:extLst>
          </p:cNvPr>
          <p:cNvSpPr txBox="1"/>
          <p:nvPr/>
        </p:nvSpPr>
        <p:spPr>
          <a:xfrm>
            <a:off x="711200" y="66040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8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基于多智能体协同的科研文献智能综述生成系统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8E5297-E84B-4E37-A0EC-EE1A8F94E71D}"/>
              </a:ext>
            </a:extLst>
          </p:cNvPr>
          <p:cNvSpPr txBox="1"/>
          <p:nvPr/>
        </p:nvSpPr>
        <p:spPr>
          <a:xfrm>
            <a:off x="10998200" y="6604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8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</a:t>
            </a:r>
            <a:endParaRPr lang="zh-CN" altLang="en-US" sz="800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134CB98-A5F8-47FE-A932-14CAC760ADAB}"/>
              </a:ext>
            </a:extLst>
          </p:cNvPr>
          <p:cNvSpPr/>
          <p:nvPr/>
        </p:nvSpPr>
        <p:spPr>
          <a:xfrm>
            <a:off x="711200" y="1905000"/>
            <a:ext cx="4851400" cy="40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5D80ABD-67D9-489B-BDCE-18B6DA033D20}"/>
              </a:ext>
            </a:extLst>
          </p:cNvPr>
          <p:cNvSpPr txBox="1"/>
          <p:nvPr/>
        </p:nvSpPr>
        <p:spPr>
          <a:xfrm>
            <a:off x="990600" y="21590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内容分析 </a:t>
            </a:r>
            <a:r>
              <a:rPr lang="en-US" altLang="zh-CN" sz="16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6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：论文卡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C59EFB8-6E4E-407F-85A8-1DA4F2B81D97}"/>
              </a:ext>
            </a:extLst>
          </p:cNvPr>
          <p:cNvSpPr txBox="1"/>
          <p:nvPr/>
        </p:nvSpPr>
        <p:spPr>
          <a:xfrm>
            <a:off x="1016000" y="27432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研究问题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CC084DF-8F8D-4209-85BF-664482690463}"/>
              </a:ext>
            </a:extLst>
          </p:cNvPr>
          <p:cNvSpPr txBox="1"/>
          <p:nvPr/>
        </p:nvSpPr>
        <p:spPr>
          <a:xfrm>
            <a:off x="2159000" y="2743200"/>
            <a:ext cx="302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解决什么任务，前提是什么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D8AC726-35A3-417B-8E33-86435848FAE7}"/>
              </a:ext>
            </a:extLst>
          </p:cNvPr>
          <p:cNvCxnSpPr/>
          <p:nvPr/>
        </p:nvCxnSpPr>
        <p:spPr>
          <a:xfrm>
            <a:off x="1016000" y="3175000"/>
            <a:ext cx="4216400" cy="0"/>
          </a:xfrm>
          <a:prstGeom prst="line">
            <a:avLst/>
          </a:prstGeom>
          <a:ln w="12700">
            <a:solidFill>
              <a:srgbClr val="F0F4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E2660239-2234-4743-B7C1-BBB8304BDDD3}"/>
              </a:ext>
            </a:extLst>
          </p:cNvPr>
          <p:cNvSpPr txBox="1"/>
          <p:nvPr/>
        </p:nvSpPr>
        <p:spPr>
          <a:xfrm>
            <a:off x="1016000" y="33274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核心方法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7D3DD9D-3687-4C8E-A86E-29FA2E213AB1}"/>
              </a:ext>
            </a:extLst>
          </p:cNvPr>
          <p:cNvSpPr txBox="1"/>
          <p:nvPr/>
        </p:nvSpPr>
        <p:spPr>
          <a:xfrm>
            <a:off x="2159000" y="3327400"/>
            <a:ext cx="302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关键模块、训练或推理方式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EA15247-BC36-4FD7-BF7B-2C955094FA9F}"/>
              </a:ext>
            </a:extLst>
          </p:cNvPr>
          <p:cNvCxnSpPr/>
          <p:nvPr/>
        </p:nvCxnSpPr>
        <p:spPr>
          <a:xfrm>
            <a:off x="1016000" y="3759200"/>
            <a:ext cx="4216400" cy="0"/>
          </a:xfrm>
          <a:prstGeom prst="line">
            <a:avLst/>
          </a:prstGeom>
          <a:ln w="12700">
            <a:solidFill>
              <a:srgbClr val="F0F4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5B13F004-E922-49ED-ACEF-88F4164EA23B}"/>
              </a:ext>
            </a:extLst>
          </p:cNvPr>
          <p:cNvSpPr txBox="1"/>
          <p:nvPr/>
        </p:nvSpPr>
        <p:spPr>
          <a:xfrm>
            <a:off x="1016000" y="39116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实验设计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8FADFAC-6028-4CF1-9B7C-5F224010F1D2}"/>
              </a:ext>
            </a:extLst>
          </p:cNvPr>
          <p:cNvSpPr txBox="1"/>
          <p:nvPr/>
        </p:nvSpPr>
        <p:spPr>
          <a:xfrm>
            <a:off x="2159000" y="3911600"/>
            <a:ext cx="302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数据集、基线、指标和主要结果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6DE4784-3B1D-4BAF-9521-70FB93206C7A}"/>
              </a:ext>
            </a:extLst>
          </p:cNvPr>
          <p:cNvCxnSpPr/>
          <p:nvPr/>
        </p:nvCxnSpPr>
        <p:spPr>
          <a:xfrm>
            <a:off x="1016000" y="4343400"/>
            <a:ext cx="4216400" cy="0"/>
          </a:xfrm>
          <a:prstGeom prst="line">
            <a:avLst/>
          </a:prstGeom>
          <a:ln w="12700">
            <a:solidFill>
              <a:srgbClr val="F0F4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130E9C8B-26CA-4A87-9DE6-29D281A96F7D}"/>
              </a:ext>
            </a:extLst>
          </p:cNvPr>
          <p:cNvSpPr txBox="1"/>
          <p:nvPr/>
        </p:nvSpPr>
        <p:spPr>
          <a:xfrm>
            <a:off x="1016000" y="44958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创新点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595CCD5-E625-497B-9BF0-C9BB75633424}"/>
              </a:ext>
            </a:extLst>
          </p:cNvPr>
          <p:cNvSpPr txBox="1"/>
          <p:nvPr/>
        </p:nvSpPr>
        <p:spPr>
          <a:xfrm>
            <a:off x="2159000" y="4495800"/>
            <a:ext cx="302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相对已有工作的新增贡献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37721540-7643-4268-AF1B-7143677DB531}"/>
              </a:ext>
            </a:extLst>
          </p:cNvPr>
          <p:cNvCxnSpPr/>
          <p:nvPr/>
        </p:nvCxnSpPr>
        <p:spPr>
          <a:xfrm>
            <a:off x="1016000" y="4927600"/>
            <a:ext cx="4216400" cy="0"/>
          </a:xfrm>
          <a:prstGeom prst="line">
            <a:avLst/>
          </a:prstGeom>
          <a:ln w="12700">
            <a:solidFill>
              <a:srgbClr val="F0F4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CBF76462-741A-4C41-988D-F9B014B1E85B}"/>
              </a:ext>
            </a:extLst>
          </p:cNvPr>
          <p:cNvSpPr txBox="1"/>
          <p:nvPr/>
        </p:nvSpPr>
        <p:spPr>
          <a:xfrm>
            <a:off x="1016000" y="50800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局限与证据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CC96E91-A23A-4A69-B6D1-B7B69FCB8D92}"/>
              </a:ext>
            </a:extLst>
          </p:cNvPr>
          <p:cNvSpPr txBox="1"/>
          <p:nvPr/>
        </p:nvSpPr>
        <p:spPr>
          <a:xfrm>
            <a:off x="2159000" y="5080000"/>
            <a:ext cx="302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作者局限、原文位置与可信度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779F03E-63DD-4985-A6DE-7D2F888B4A44}"/>
              </a:ext>
            </a:extLst>
          </p:cNvPr>
          <p:cNvSpPr txBox="1"/>
          <p:nvPr/>
        </p:nvSpPr>
        <p:spPr>
          <a:xfrm>
            <a:off x="6019800" y="19304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对比分析 </a:t>
            </a:r>
            <a:r>
              <a:rPr lang="en-US" altLang="zh-CN" sz="16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6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：形成四种融合结果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7746D9F-B94F-416B-8E2B-2B28082C6C3D}"/>
              </a:ext>
            </a:extLst>
          </p:cNvPr>
          <p:cNvSpPr/>
          <p:nvPr/>
        </p:nvSpPr>
        <p:spPr>
          <a:xfrm>
            <a:off x="6019800" y="2514600"/>
            <a:ext cx="5461000" cy="711200"/>
          </a:xfrm>
          <a:prstGeom prst="roundRect">
            <a:avLst/>
          </a:prstGeom>
          <a:solidFill>
            <a:srgbClr val="F0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344A4A7-2560-4C90-BE05-B00216C1DD13}"/>
              </a:ext>
            </a:extLst>
          </p:cNvPr>
          <p:cNvSpPr txBox="1"/>
          <p:nvPr/>
        </p:nvSpPr>
        <p:spPr>
          <a:xfrm>
            <a:off x="6223000" y="26416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方法族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44F9471-E4CC-4FE1-845D-ABB4D561DD1E}"/>
              </a:ext>
            </a:extLst>
          </p:cNvPr>
          <p:cNvSpPr txBox="1"/>
          <p:nvPr/>
        </p:nvSpPr>
        <p:spPr>
          <a:xfrm>
            <a:off x="7442200" y="2616200"/>
            <a:ext cx="378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按“问题 </a:t>
            </a:r>
            <a:r>
              <a:rPr lang="en-US" altLang="zh-CN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方法”签名做 </a:t>
            </a:r>
            <a:r>
              <a:rPr lang="en-US" altLang="zh-CN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TF-IDF </a:t>
            </a:r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与贪心聚类，模型只负责给族命名。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DA57D433-89F9-41EE-AD28-2A8D6B241249}"/>
              </a:ext>
            </a:extLst>
          </p:cNvPr>
          <p:cNvSpPr/>
          <p:nvPr/>
        </p:nvSpPr>
        <p:spPr>
          <a:xfrm>
            <a:off x="6019800" y="3352800"/>
            <a:ext cx="5461000" cy="7112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D9D3A0C-B832-4B31-BF97-AB2258AA0031}"/>
              </a:ext>
            </a:extLst>
          </p:cNvPr>
          <p:cNvSpPr txBox="1"/>
          <p:nvPr/>
        </p:nvSpPr>
        <p:spPr>
          <a:xfrm>
            <a:off x="6223000" y="34798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演进边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BC32488-727D-4202-9C6F-6793BC9C5878}"/>
              </a:ext>
            </a:extLst>
          </p:cNvPr>
          <p:cNvSpPr txBox="1"/>
          <p:nvPr/>
        </p:nvSpPr>
        <p:spPr>
          <a:xfrm>
            <a:off x="7442200" y="3454400"/>
            <a:ext cx="378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按年份及 </a:t>
            </a:r>
            <a:r>
              <a:rPr lang="en-US" altLang="zh-CN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improve / extend </a:t>
            </a:r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等线索生成；属于可复查的启发式关系。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B3D85CC1-EEFA-49E6-9281-2FDDA0479F7B}"/>
              </a:ext>
            </a:extLst>
          </p:cNvPr>
          <p:cNvSpPr/>
          <p:nvPr/>
        </p:nvSpPr>
        <p:spPr>
          <a:xfrm>
            <a:off x="6019800" y="4191000"/>
            <a:ext cx="5461000" cy="711200"/>
          </a:xfrm>
          <a:prstGeom prst="roundRect">
            <a:avLst/>
          </a:prstGeom>
          <a:solidFill>
            <a:srgbClr val="F0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2756AB1-0F56-4725-94DD-D0C2D5EAD6E7}"/>
              </a:ext>
            </a:extLst>
          </p:cNvPr>
          <p:cNvSpPr txBox="1"/>
          <p:nvPr/>
        </p:nvSpPr>
        <p:spPr>
          <a:xfrm>
            <a:off x="6223000" y="43180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冲突提示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C4BC055-E7AA-42C1-9181-B6ED10E9BCDF}"/>
              </a:ext>
            </a:extLst>
          </p:cNvPr>
          <p:cNvSpPr txBox="1"/>
          <p:nvPr/>
        </p:nvSpPr>
        <p:spPr>
          <a:xfrm>
            <a:off x="7442200" y="4292600"/>
            <a:ext cx="378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目前只比较指标数值，尚未对齐数据集与实验协议，因此只标记“存疑”。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36F58262-9ECE-4116-9DFD-A7483058C133}"/>
              </a:ext>
            </a:extLst>
          </p:cNvPr>
          <p:cNvSpPr/>
          <p:nvPr/>
        </p:nvSpPr>
        <p:spPr>
          <a:xfrm>
            <a:off x="6019800" y="5029200"/>
            <a:ext cx="5461000" cy="7112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A76A0EE-3B40-4048-A732-BABF3535C481}"/>
              </a:ext>
            </a:extLst>
          </p:cNvPr>
          <p:cNvSpPr txBox="1"/>
          <p:nvPr/>
        </p:nvSpPr>
        <p:spPr>
          <a:xfrm>
            <a:off x="6223000" y="51562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开放问题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10A63FF-0F55-4A10-BC76-84205AE04792}"/>
              </a:ext>
            </a:extLst>
          </p:cNvPr>
          <p:cNvSpPr txBox="1"/>
          <p:nvPr/>
        </p:nvSpPr>
        <p:spPr>
          <a:xfrm>
            <a:off x="7442200" y="5130800"/>
            <a:ext cx="378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汇总论文 </a:t>
            </a:r>
            <a:r>
              <a:rPr lang="en-US" altLang="zh-CN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limitations</a:t>
            </a:r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；事实句带引用，系统归纳单独标为分析句。</a:t>
            </a:r>
          </a:p>
        </p:txBody>
      </p:sp>
    </p:spTree>
    <p:extLst>
      <p:ext uri="{BB962C8B-B14F-4D97-AF65-F5344CB8AC3E}">
        <p14:creationId xmlns:p14="http://schemas.microsoft.com/office/powerpoint/2010/main" val="1705949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4319E9A-0EB5-45CA-8AFE-5CD6C47B0DBE}"/>
              </a:ext>
            </a:extLst>
          </p:cNvPr>
          <p:cNvSpPr txBox="1"/>
          <p:nvPr/>
        </p:nvSpPr>
        <p:spPr>
          <a:xfrm>
            <a:off x="711200" y="2794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  /  </a:t>
            </a:r>
            <a:r>
              <a:rPr lang="zh-CN" altLang="en-US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综述撰写与校验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021B4A-9575-4BB5-9C99-265082F19A1D}"/>
              </a:ext>
            </a:extLst>
          </p:cNvPr>
          <p:cNvSpPr txBox="1"/>
          <p:nvPr/>
        </p:nvSpPr>
        <p:spPr>
          <a:xfrm>
            <a:off x="711200" y="5715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7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模板先保证事实来源，模型只负责润色表达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C64C792-5AD4-4840-9CFD-8D3E4035CDB4}"/>
              </a:ext>
            </a:extLst>
          </p:cNvPr>
          <p:cNvSpPr txBox="1"/>
          <p:nvPr/>
        </p:nvSpPr>
        <p:spPr>
          <a:xfrm>
            <a:off x="711200" y="12192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没有大模型时也能跑通；接入模型后仍受证据白名单和校验器约束。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05C57A5-940A-4A4E-B15C-4AE2ECFF24CD}"/>
              </a:ext>
            </a:extLst>
          </p:cNvPr>
          <p:cNvCxnSpPr/>
          <p:nvPr/>
        </p:nvCxnSpPr>
        <p:spPr>
          <a:xfrm>
            <a:off x="711200" y="1612900"/>
            <a:ext cx="10769600" cy="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DDE9AAE-82D2-47A0-93D6-FB6B3851F7A3}"/>
              </a:ext>
            </a:extLst>
          </p:cNvPr>
          <p:cNvCxnSpPr/>
          <p:nvPr/>
        </p:nvCxnSpPr>
        <p:spPr>
          <a:xfrm>
            <a:off x="711200" y="1612900"/>
            <a:ext cx="838200" cy="0"/>
          </a:xfrm>
          <a:prstGeom prst="line">
            <a:avLst/>
          </a:prstGeom>
          <a:ln w="25400">
            <a:solidFill>
              <a:srgbClr val="0E7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A565F92-F0AA-4256-B353-2168DF68C5FC}"/>
              </a:ext>
            </a:extLst>
          </p:cNvPr>
          <p:cNvCxnSpPr/>
          <p:nvPr/>
        </p:nvCxnSpPr>
        <p:spPr>
          <a:xfrm>
            <a:off x="711200" y="6502400"/>
            <a:ext cx="10769600" cy="0"/>
          </a:xfrm>
          <a:prstGeom prst="line">
            <a:avLst/>
          </a:prstGeom>
          <a:ln w="889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19318AB-4FA3-4AFA-A663-16EC36C332FA}"/>
              </a:ext>
            </a:extLst>
          </p:cNvPr>
          <p:cNvSpPr txBox="1"/>
          <p:nvPr/>
        </p:nvSpPr>
        <p:spPr>
          <a:xfrm>
            <a:off x="711200" y="66040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8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基于多智能体协同的科研文献智能综述生成系统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A7E652-BA95-4448-9A97-759A80FA0BC4}"/>
              </a:ext>
            </a:extLst>
          </p:cNvPr>
          <p:cNvSpPr txBox="1"/>
          <p:nvPr/>
        </p:nvSpPr>
        <p:spPr>
          <a:xfrm>
            <a:off x="10998200" y="6604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8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800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693D179-9F34-4A5E-AE54-63346EE20256}"/>
              </a:ext>
            </a:extLst>
          </p:cNvPr>
          <p:cNvSpPr/>
          <p:nvPr/>
        </p:nvSpPr>
        <p:spPr>
          <a:xfrm>
            <a:off x="711200" y="1879600"/>
            <a:ext cx="2006600" cy="685800"/>
          </a:xfrm>
          <a:prstGeom prst="roundRect">
            <a:avLst/>
          </a:prstGeom>
          <a:solidFill>
            <a:srgbClr val="142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A040FC6-AA3D-4F51-87D7-175B51EC214E}"/>
              </a:ext>
            </a:extLst>
          </p:cNvPr>
          <p:cNvSpPr txBox="1"/>
          <p:nvPr/>
        </p:nvSpPr>
        <p:spPr>
          <a:xfrm>
            <a:off x="812800" y="20320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研究背景与问题定义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FA71E3E-A844-48A4-9F3E-0865672A8391}"/>
              </a:ext>
            </a:extLst>
          </p:cNvPr>
          <p:cNvSpPr/>
          <p:nvPr/>
        </p:nvSpPr>
        <p:spPr>
          <a:xfrm>
            <a:off x="2882900" y="1879600"/>
            <a:ext cx="2006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57E93B1-24AB-440C-8A25-817E1D853D3E}"/>
              </a:ext>
            </a:extLst>
          </p:cNvPr>
          <p:cNvSpPr txBox="1"/>
          <p:nvPr/>
        </p:nvSpPr>
        <p:spPr>
          <a:xfrm>
            <a:off x="2984500" y="20320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1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主流方法分类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D2BF4E4-26B1-4F15-A236-7559E7CE9EE0}"/>
              </a:ext>
            </a:extLst>
          </p:cNvPr>
          <p:cNvSpPr/>
          <p:nvPr/>
        </p:nvSpPr>
        <p:spPr>
          <a:xfrm>
            <a:off x="5054600" y="1879600"/>
            <a:ext cx="2006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FD9208-F120-4F64-A714-FE277907AD1A}"/>
              </a:ext>
            </a:extLst>
          </p:cNvPr>
          <p:cNvSpPr txBox="1"/>
          <p:nvPr/>
        </p:nvSpPr>
        <p:spPr>
          <a:xfrm>
            <a:off x="5156200" y="20320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1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技术演进与代表工作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2A44C2B-64E7-45AD-B8A3-A9EDF260BA66}"/>
              </a:ext>
            </a:extLst>
          </p:cNvPr>
          <p:cNvSpPr/>
          <p:nvPr/>
        </p:nvSpPr>
        <p:spPr>
          <a:xfrm>
            <a:off x="7226300" y="1879600"/>
            <a:ext cx="2006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0BB25CC-C07D-4822-86CF-C0936576386E}"/>
              </a:ext>
            </a:extLst>
          </p:cNvPr>
          <p:cNvSpPr txBox="1"/>
          <p:nvPr/>
        </p:nvSpPr>
        <p:spPr>
          <a:xfrm>
            <a:off x="7327900" y="20320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1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实验结果与争议讨论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C2F7D34-FE6E-4775-AC66-CFB6A7CA7F6C}"/>
              </a:ext>
            </a:extLst>
          </p:cNvPr>
          <p:cNvSpPr/>
          <p:nvPr/>
        </p:nvSpPr>
        <p:spPr>
          <a:xfrm>
            <a:off x="9398000" y="1879600"/>
            <a:ext cx="2006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9890610-5E44-4D98-A793-FFCFF8E62CEC}"/>
              </a:ext>
            </a:extLst>
          </p:cNvPr>
          <p:cNvSpPr txBox="1"/>
          <p:nvPr/>
        </p:nvSpPr>
        <p:spPr>
          <a:xfrm>
            <a:off x="9499600" y="20320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1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未解决问题与研究方向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5397BBD-6186-4479-86CE-9DDF5958D326}"/>
              </a:ext>
            </a:extLst>
          </p:cNvPr>
          <p:cNvSpPr txBox="1"/>
          <p:nvPr/>
        </p:nvSpPr>
        <p:spPr>
          <a:xfrm>
            <a:off x="711200" y="29210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900" b="1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81B4BB-EDEA-463E-97D5-B8AE7A9E7FEB}"/>
              </a:ext>
            </a:extLst>
          </p:cNvPr>
          <p:cNvSpPr txBox="1"/>
          <p:nvPr/>
        </p:nvSpPr>
        <p:spPr>
          <a:xfrm>
            <a:off x="711200" y="32258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模板生成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30EBCFA-3809-4D63-95C3-7B0CB2DD28B5}"/>
              </a:ext>
            </a:extLst>
          </p:cNvPr>
          <p:cNvSpPr txBox="1"/>
          <p:nvPr/>
        </p:nvSpPr>
        <p:spPr>
          <a:xfrm>
            <a:off x="711200" y="3632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按论文卡和方法族组织事实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1E5F1F4-DFA4-498F-BB43-347CD96C9EA2}"/>
              </a:ext>
            </a:extLst>
          </p:cNvPr>
          <p:cNvSpPr txBox="1"/>
          <p:nvPr/>
        </p:nvSpPr>
        <p:spPr>
          <a:xfrm>
            <a:off x="2882900" y="29210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900" b="1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A310D33-F65A-491B-ADA1-89E36E075A31}"/>
              </a:ext>
            </a:extLst>
          </p:cNvPr>
          <p:cNvSpPr txBox="1"/>
          <p:nvPr/>
        </p:nvSpPr>
        <p:spPr>
          <a:xfrm>
            <a:off x="2882900" y="32258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证据白名单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9A09ADE-5F11-417A-8726-C969EB388907}"/>
              </a:ext>
            </a:extLst>
          </p:cNvPr>
          <p:cNvSpPr txBox="1"/>
          <p:nvPr/>
        </p:nvSpPr>
        <p:spPr>
          <a:xfrm>
            <a:off x="2882900" y="3632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模型只能使用给定 </a:t>
            </a:r>
            <a:r>
              <a:rPr lang="en-US" altLang="zh-CN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Span</a:t>
            </a:r>
            <a:endParaRPr lang="zh-CN" altLang="en-US" sz="1050">
              <a:solidFill>
                <a:srgbClr val="333D4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6A47B1B-BED1-4958-A923-D836C7936135}"/>
              </a:ext>
            </a:extLst>
          </p:cNvPr>
          <p:cNvSpPr txBox="1"/>
          <p:nvPr/>
        </p:nvSpPr>
        <p:spPr>
          <a:xfrm>
            <a:off x="5054600" y="29210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900" b="1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3328BE5-BFFF-4501-9306-592EBF2F865A}"/>
              </a:ext>
            </a:extLst>
          </p:cNvPr>
          <p:cNvSpPr txBox="1"/>
          <p:nvPr/>
        </p:nvSpPr>
        <p:spPr>
          <a:xfrm>
            <a:off x="5054600" y="32258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模型润色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182DD4F-80ED-4BC8-B531-6287132AA9A4}"/>
              </a:ext>
            </a:extLst>
          </p:cNvPr>
          <p:cNvSpPr txBox="1"/>
          <p:nvPr/>
        </p:nvSpPr>
        <p:spPr>
          <a:xfrm>
            <a:off x="5054600" y="3632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引用越界丢弃，失败保留模板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B7824D3-04DD-4552-AC69-DCBFDD8EF1B0}"/>
              </a:ext>
            </a:extLst>
          </p:cNvPr>
          <p:cNvSpPr txBox="1"/>
          <p:nvPr/>
        </p:nvSpPr>
        <p:spPr>
          <a:xfrm>
            <a:off x="7226300" y="29210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900" b="1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AA5EACD-DA67-4D01-AF89-E524DC4B7FC5}"/>
              </a:ext>
            </a:extLst>
          </p:cNvPr>
          <p:cNvSpPr txBox="1"/>
          <p:nvPr/>
        </p:nvSpPr>
        <p:spPr>
          <a:xfrm>
            <a:off x="7226300" y="32258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三级校验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25E45D6-1E61-416E-A4E5-815D0ADA6BAF}"/>
              </a:ext>
            </a:extLst>
          </p:cNvPr>
          <p:cNvSpPr txBox="1"/>
          <p:nvPr/>
        </p:nvSpPr>
        <p:spPr>
          <a:xfrm>
            <a:off x="7226300" y="3632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存在性、数字与双向覆盖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24B2D9B-9F13-4F76-9D7E-5DF85BA73910}"/>
              </a:ext>
            </a:extLst>
          </p:cNvPr>
          <p:cNvSpPr txBox="1"/>
          <p:nvPr/>
        </p:nvSpPr>
        <p:spPr>
          <a:xfrm>
            <a:off x="9398000" y="29210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900" b="1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1F6DF83-4978-4B8E-8146-0C405B40E4A5}"/>
              </a:ext>
            </a:extLst>
          </p:cNvPr>
          <p:cNvSpPr txBox="1"/>
          <p:nvPr/>
        </p:nvSpPr>
        <p:spPr>
          <a:xfrm>
            <a:off x="9398000" y="32258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修复成稿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32E5997-728B-486C-9957-88F197152420}"/>
              </a:ext>
            </a:extLst>
          </p:cNvPr>
          <p:cNvSpPr txBox="1"/>
          <p:nvPr/>
        </p:nvSpPr>
        <p:spPr>
          <a:xfrm>
            <a:off x="9398000" y="3632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revise </a:t>
            </a:r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重挂证据并输出文件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8012E54-5D51-4F9A-A070-DA65399F77D4}"/>
              </a:ext>
            </a:extLst>
          </p:cNvPr>
          <p:cNvCxnSpPr/>
          <p:nvPr/>
        </p:nvCxnSpPr>
        <p:spPr>
          <a:xfrm>
            <a:off x="711200" y="4292600"/>
            <a:ext cx="10769600" cy="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E8E0B681-9E6A-4E48-B3CB-B2322F55358E}"/>
              </a:ext>
            </a:extLst>
          </p:cNvPr>
          <p:cNvSpPr/>
          <p:nvPr/>
        </p:nvSpPr>
        <p:spPr>
          <a:xfrm>
            <a:off x="711200" y="4546600"/>
            <a:ext cx="3378200" cy="1041400"/>
          </a:xfrm>
          <a:prstGeom prst="roundRect">
            <a:avLst/>
          </a:prstGeom>
          <a:solidFill>
            <a:srgbClr val="F0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7B10EE-AB89-4C44-B748-9CB5BF7B5C48}"/>
              </a:ext>
            </a:extLst>
          </p:cNvPr>
          <p:cNvSpPr txBox="1"/>
          <p:nvPr/>
        </p:nvSpPr>
        <p:spPr>
          <a:xfrm>
            <a:off x="914400" y="4724400"/>
            <a:ext cx="297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来源存在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78FE58D-C5D9-4F22-B30C-249749ED3904}"/>
              </a:ext>
            </a:extLst>
          </p:cNvPr>
          <p:cNvSpPr txBox="1"/>
          <p:nvPr/>
        </p:nvSpPr>
        <p:spPr>
          <a:xfrm>
            <a:off x="914400" y="5130800"/>
            <a:ext cx="297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每个 </a:t>
            </a:r>
            <a:r>
              <a:rPr lang="en-US" altLang="zh-CN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span_id </a:t>
            </a:r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都能在索引中找到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89C88AEC-2781-4F56-88B8-7325849D26E6}"/>
              </a:ext>
            </a:extLst>
          </p:cNvPr>
          <p:cNvSpPr/>
          <p:nvPr/>
        </p:nvSpPr>
        <p:spPr>
          <a:xfrm>
            <a:off x="4406900" y="4546600"/>
            <a:ext cx="3378200" cy="1041400"/>
          </a:xfrm>
          <a:prstGeom prst="roundRect">
            <a:avLst/>
          </a:prstGeom>
          <a:solidFill>
            <a:srgbClr val="F0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DB90076-6F5F-4C28-AEFF-C15CB5CB641B}"/>
              </a:ext>
            </a:extLst>
          </p:cNvPr>
          <p:cNvSpPr txBox="1"/>
          <p:nvPr/>
        </p:nvSpPr>
        <p:spPr>
          <a:xfrm>
            <a:off x="4610100" y="4724400"/>
            <a:ext cx="297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数字一致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F21C18B-EB50-477C-B8D4-9895FCD6FEE3}"/>
              </a:ext>
            </a:extLst>
          </p:cNvPr>
          <p:cNvSpPr txBox="1"/>
          <p:nvPr/>
        </p:nvSpPr>
        <p:spPr>
          <a:xfrm>
            <a:off x="4610100" y="5130800"/>
            <a:ext cx="297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正文数字必须来自对应证据片段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4C39842A-E90E-41F5-8E3C-A63E02B0FC8B}"/>
              </a:ext>
            </a:extLst>
          </p:cNvPr>
          <p:cNvSpPr/>
          <p:nvPr/>
        </p:nvSpPr>
        <p:spPr>
          <a:xfrm>
            <a:off x="8102600" y="4546600"/>
            <a:ext cx="3378200" cy="1041400"/>
          </a:xfrm>
          <a:prstGeom prst="roundRect">
            <a:avLst/>
          </a:prstGeom>
          <a:solidFill>
            <a:srgbClr val="F0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3828B19-8541-4F4A-81D6-07FF7F0DC70F}"/>
              </a:ext>
            </a:extLst>
          </p:cNvPr>
          <p:cNvSpPr txBox="1"/>
          <p:nvPr/>
        </p:nvSpPr>
        <p:spPr>
          <a:xfrm>
            <a:off x="8305800" y="4724400"/>
            <a:ext cx="297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双向覆盖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C92ACE1-628E-4BCD-8952-3665E701DCA5}"/>
              </a:ext>
            </a:extLst>
          </p:cNvPr>
          <p:cNvSpPr txBox="1"/>
          <p:nvPr/>
        </p:nvSpPr>
        <p:spPr>
          <a:xfrm>
            <a:off x="8305800" y="5130800"/>
            <a:ext cx="297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检查词面覆盖；边界句可交模型判定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AFFBE6B-977E-403F-B080-B71A583B48D1}"/>
              </a:ext>
            </a:extLst>
          </p:cNvPr>
          <p:cNvSpPr txBox="1"/>
          <p:nvPr/>
        </p:nvSpPr>
        <p:spPr>
          <a:xfrm>
            <a:off x="787400" y="58166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当前离线模式主要输出英文模板草稿；中文表达与更自然的综述需要接入大模型，但不改变证据约束。</a:t>
            </a:r>
          </a:p>
        </p:txBody>
      </p:sp>
    </p:spTree>
    <p:extLst>
      <p:ext uri="{BB962C8B-B14F-4D97-AF65-F5344CB8AC3E}">
        <p14:creationId xmlns:p14="http://schemas.microsoft.com/office/powerpoint/2010/main" val="3643890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8E47F80-1995-4CF1-B668-FE8030E8C546}"/>
              </a:ext>
            </a:extLst>
          </p:cNvPr>
          <p:cNvSpPr txBox="1"/>
          <p:nvPr/>
        </p:nvSpPr>
        <p:spPr>
          <a:xfrm>
            <a:off x="711200" y="2794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 /  Web </a:t>
            </a:r>
            <a:r>
              <a:rPr lang="zh-CN" altLang="en-US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应用原型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05D3BCE-F319-4E6C-8910-D5A71E314ACE}"/>
              </a:ext>
            </a:extLst>
          </p:cNvPr>
          <p:cNvSpPr txBox="1"/>
          <p:nvPr/>
        </p:nvSpPr>
        <p:spPr>
          <a:xfrm>
            <a:off x="711200" y="5715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7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三页已经跑通：输入、运行、阅读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EA2F01-4135-42BE-9D29-32A2FA62852E}"/>
              </a:ext>
            </a:extLst>
          </p:cNvPr>
          <p:cNvSpPr txBox="1"/>
          <p:nvPr/>
        </p:nvSpPr>
        <p:spPr>
          <a:xfrm>
            <a:off x="711200" y="12192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项目使用标准库 </a:t>
            </a:r>
            <a:r>
              <a:rPr lang="en-US" altLang="zh-CN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http.server + SSE</a:t>
            </a:r>
            <a:r>
              <a:rPr lang="zh-CN" altLang="en-US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，不依赖 </a:t>
            </a:r>
            <a:r>
              <a:rPr lang="en-US" altLang="zh-CN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React </a:t>
            </a:r>
            <a:r>
              <a:rPr lang="zh-CN" altLang="en-US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 </a:t>
            </a:r>
            <a:r>
              <a:rPr lang="en-US" altLang="zh-CN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FastAPI</a:t>
            </a:r>
            <a:r>
              <a:rPr lang="zh-CN" altLang="en-US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；点击角标即可查看证据。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C1D0284-265C-46AD-B71E-0C388EC56D21}"/>
              </a:ext>
            </a:extLst>
          </p:cNvPr>
          <p:cNvCxnSpPr/>
          <p:nvPr/>
        </p:nvCxnSpPr>
        <p:spPr>
          <a:xfrm>
            <a:off x="711200" y="1612900"/>
            <a:ext cx="10769600" cy="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C21F385-A71F-4E23-9140-13CADE70EF87}"/>
              </a:ext>
            </a:extLst>
          </p:cNvPr>
          <p:cNvCxnSpPr/>
          <p:nvPr/>
        </p:nvCxnSpPr>
        <p:spPr>
          <a:xfrm>
            <a:off x="711200" y="1612900"/>
            <a:ext cx="838200" cy="0"/>
          </a:xfrm>
          <a:prstGeom prst="line">
            <a:avLst/>
          </a:prstGeom>
          <a:ln w="25400">
            <a:solidFill>
              <a:srgbClr val="0E7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06A1088-0E29-48C5-8023-469E583F75B1}"/>
              </a:ext>
            </a:extLst>
          </p:cNvPr>
          <p:cNvCxnSpPr/>
          <p:nvPr/>
        </p:nvCxnSpPr>
        <p:spPr>
          <a:xfrm>
            <a:off x="711200" y="6502400"/>
            <a:ext cx="10769600" cy="0"/>
          </a:xfrm>
          <a:prstGeom prst="line">
            <a:avLst/>
          </a:prstGeom>
          <a:ln w="889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BCC9265-54AE-4F2A-AD01-D1DD13233B66}"/>
              </a:ext>
            </a:extLst>
          </p:cNvPr>
          <p:cNvSpPr txBox="1"/>
          <p:nvPr/>
        </p:nvSpPr>
        <p:spPr>
          <a:xfrm>
            <a:off x="711200" y="66040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8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基于多智能体协同的科研文献智能综述生成系统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A57DE8-6E4D-470B-847A-4C5EE5D4D401}"/>
              </a:ext>
            </a:extLst>
          </p:cNvPr>
          <p:cNvSpPr txBox="1"/>
          <p:nvPr/>
        </p:nvSpPr>
        <p:spPr>
          <a:xfrm>
            <a:off x="10998200" y="6604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8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endParaRPr lang="zh-CN" altLang="en-US" sz="800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51A108C-0A54-4CCC-98D5-EA2C65776978}"/>
              </a:ext>
            </a:extLst>
          </p:cNvPr>
          <p:cNvSpPr/>
          <p:nvPr/>
        </p:nvSpPr>
        <p:spPr>
          <a:xfrm>
            <a:off x="711200" y="1879600"/>
            <a:ext cx="10769600" cy="375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E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3B4ABA3-531B-47A5-A281-20193600E792}"/>
              </a:ext>
            </a:extLst>
          </p:cNvPr>
          <p:cNvSpPr/>
          <p:nvPr/>
        </p:nvSpPr>
        <p:spPr>
          <a:xfrm>
            <a:off x="711200" y="1879600"/>
            <a:ext cx="10769600" cy="431800"/>
          </a:xfrm>
          <a:prstGeom prst="roundRect">
            <a:avLst/>
          </a:prstGeom>
          <a:solidFill>
            <a:srgbClr val="F0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660C02D-AA6D-4891-9FB7-1833943B51FB}"/>
              </a:ext>
            </a:extLst>
          </p:cNvPr>
          <p:cNvSpPr/>
          <p:nvPr/>
        </p:nvSpPr>
        <p:spPr>
          <a:xfrm>
            <a:off x="939800" y="2032000"/>
            <a:ext cx="101600" cy="101600"/>
          </a:xfrm>
          <a:prstGeom prst="ellipse">
            <a:avLst/>
          </a:prstGeom>
          <a:solidFill>
            <a:srgbClr val="B4BE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25E8E7F-58A3-431D-AE97-2D0F67119E2C}"/>
              </a:ext>
            </a:extLst>
          </p:cNvPr>
          <p:cNvSpPr txBox="1"/>
          <p:nvPr/>
        </p:nvSpPr>
        <p:spPr>
          <a:xfrm>
            <a:off x="939800" y="2044700"/>
            <a:ext cx="10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C14C90D-CFBF-41C7-B212-A1A79496B6C9}"/>
              </a:ext>
            </a:extLst>
          </p:cNvPr>
          <p:cNvSpPr/>
          <p:nvPr/>
        </p:nvSpPr>
        <p:spPr>
          <a:xfrm>
            <a:off x="1143000" y="2032000"/>
            <a:ext cx="101600" cy="101600"/>
          </a:xfrm>
          <a:prstGeom prst="ellipse">
            <a:avLst/>
          </a:prstGeom>
          <a:solidFill>
            <a:srgbClr val="B4BE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9621C97-0AFA-4842-BCAB-1BEEF4FE13F8}"/>
              </a:ext>
            </a:extLst>
          </p:cNvPr>
          <p:cNvSpPr txBox="1"/>
          <p:nvPr/>
        </p:nvSpPr>
        <p:spPr>
          <a:xfrm>
            <a:off x="1143000" y="2044700"/>
            <a:ext cx="10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8BE4727-C338-4809-8F00-12F62CA7E032}"/>
              </a:ext>
            </a:extLst>
          </p:cNvPr>
          <p:cNvSpPr txBox="1"/>
          <p:nvPr/>
        </p:nvSpPr>
        <p:spPr>
          <a:xfrm>
            <a:off x="1549400" y="19939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review-agent  /  </a:t>
            </a:r>
            <a:r>
              <a:rPr lang="zh-CN" altLang="en-US" sz="10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多智能体文献综述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866DC60-1F84-4D17-AE53-370EA3A1DF49}"/>
              </a:ext>
            </a:extLst>
          </p:cNvPr>
          <p:cNvCxnSpPr/>
          <p:nvPr/>
        </p:nvCxnSpPr>
        <p:spPr>
          <a:xfrm>
            <a:off x="4267200" y="2311400"/>
            <a:ext cx="0" cy="332740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129DE2DD-2AF8-43AF-A29D-5742785FA992}"/>
              </a:ext>
            </a:extLst>
          </p:cNvPr>
          <p:cNvSpPr txBox="1"/>
          <p:nvPr/>
        </p:nvSpPr>
        <p:spPr>
          <a:xfrm>
            <a:off x="990600" y="25908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生成一篇可溯源的综述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AC732C3-8E3C-4808-BF41-DCE22EC983CF}"/>
              </a:ext>
            </a:extLst>
          </p:cNvPr>
          <p:cNvSpPr txBox="1"/>
          <p:nvPr/>
        </p:nvSpPr>
        <p:spPr>
          <a:xfrm>
            <a:off x="990600" y="3124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 b="1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研究主题  </a:t>
            </a:r>
            <a:r>
              <a:rPr lang="en-US" altLang="zh-CN" sz="1000" b="1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 </a:t>
            </a:r>
            <a:r>
              <a:rPr lang="zh-CN" altLang="en-US" sz="1000" b="1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论文数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CF6B88C-0CF2-4CEF-9635-F8F663742A1C}"/>
              </a:ext>
            </a:extLst>
          </p:cNvPr>
          <p:cNvSpPr/>
          <p:nvPr/>
        </p:nvSpPr>
        <p:spPr>
          <a:xfrm>
            <a:off x="990600" y="3429000"/>
            <a:ext cx="2921000" cy="83820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AD4D1B6-D100-4829-AC27-5D6DE5862B62}"/>
              </a:ext>
            </a:extLst>
          </p:cNvPr>
          <p:cNvSpPr txBox="1"/>
          <p:nvPr/>
        </p:nvSpPr>
        <p:spPr>
          <a:xfrm>
            <a:off x="1143000" y="3581400"/>
            <a:ext cx="259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请输入希望梳理的研究问题</a:t>
            </a:r>
            <a:r>
              <a:rPr lang="en-US" altLang="zh-CN" sz="10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……</a:t>
            </a:r>
            <a:endParaRPr lang="zh-CN" altLang="en-US" sz="1050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554F720-2FE5-45C7-9B89-9C8115F4B9C3}"/>
              </a:ext>
            </a:extLst>
          </p:cNvPr>
          <p:cNvSpPr/>
          <p:nvPr/>
        </p:nvSpPr>
        <p:spPr>
          <a:xfrm>
            <a:off x="990600" y="4445000"/>
            <a:ext cx="2921000" cy="431800"/>
          </a:xfrm>
          <a:prstGeom prst="roundRect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762BA71-4F3A-4B2E-BA88-BCB622E1002E}"/>
              </a:ext>
            </a:extLst>
          </p:cNvPr>
          <p:cNvSpPr txBox="1"/>
          <p:nvPr/>
        </p:nvSpPr>
        <p:spPr>
          <a:xfrm>
            <a:off x="990600" y="45339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开始生成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59B5E9A-6724-4A77-B329-D4E0553D054B}"/>
              </a:ext>
            </a:extLst>
          </p:cNvPr>
          <p:cNvSpPr txBox="1"/>
          <p:nvPr/>
        </p:nvSpPr>
        <p:spPr>
          <a:xfrm>
            <a:off x="990600" y="50927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✓ 检索完成  </a:t>
            </a:r>
            <a:r>
              <a:rPr lang="en-US" altLang="zh-CN" sz="9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42 </a:t>
            </a:r>
            <a:r>
              <a:rPr lang="zh-CN" altLang="en-US" sz="9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篇论文
✓ 内容分析完成
● 正在生成对比结果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2C7B2D6-2A28-439F-8D6D-4007293A6BE4}"/>
              </a:ext>
            </a:extLst>
          </p:cNvPr>
          <p:cNvSpPr txBox="1"/>
          <p:nvPr/>
        </p:nvSpPr>
        <p:spPr>
          <a:xfrm>
            <a:off x="4597400" y="25654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检索增强生成长上下文方法综述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DA9C8CE-4600-41B3-AC3C-F72112B21FD5}"/>
              </a:ext>
            </a:extLst>
          </p:cNvPr>
          <p:cNvSpPr txBox="1"/>
          <p:nvPr/>
        </p:nvSpPr>
        <p:spPr>
          <a:xfrm>
            <a:off x="4597400" y="31750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12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研究背景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5E5DE1B-2FA3-40F0-A94A-789A872E4C0F}"/>
              </a:ext>
            </a:extLst>
          </p:cNvPr>
          <p:cNvSpPr txBox="1"/>
          <p:nvPr/>
        </p:nvSpPr>
        <p:spPr>
          <a:xfrm>
            <a:off x="4597400" y="35814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长上下文场景对检索效率与证据利用提出了新的要求。现有方法主要从检索压缩和上下文组织两个方向展开</a:t>
            </a:r>
            <a:r>
              <a:rPr lang="en-US" altLang="zh-CN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…… [1]</a:t>
            </a:r>
            <a:endParaRPr lang="zh-CN" altLang="en-US" sz="1100">
              <a:solidFill>
                <a:srgbClr val="333D4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EC5F29E5-8D3B-4309-8ACD-E9641308E5AE}"/>
              </a:ext>
            </a:extLst>
          </p:cNvPr>
          <p:cNvSpPr/>
          <p:nvPr/>
        </p:nvSpPr>
        <p:spPr>
          <a:xfrm>
            <a:off x="8966200" y="3022600"/>
            <a:ext cx="2184400" cy="2108200"/>
          </a:xfrm>
          <a:prstGeom prst="roundRect">
            <a:avLst/>
          </a:prstGeom>
          <a:solidFill>
            <a:srgbClr val="F0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1D6631C-5F71-4C81-B456-0A395487BFE4}"/>
              </a:ext>
            </a:extLst>
          </p:cNvPr>
          <p:cNvSpPr txBox="1"/>
          <p:nvPr/>
        </p:nvSpPr>
        <p:spPr>
          <a:xfrm>
            <a:off x="9169400" y="32258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引用 </a:t>
            </a:r>
            <a:r>
              <a:rPr lang="en-US" altLang="zh-CN" sz="11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[1]</a:t>
            </a:r>
            <a:endParaRPr lang="zh-CN" altLang="en-US" sz="1100" b="1">
              <a:solidFill>
                <a:srgbClr val="1423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89DFCCD-A83E-4D59-A8F3-18C960A08E79}"/>
              </a:ext>
            </a:extLst>
          </p:cNvPr>
          <p:cNvSpPr txBox="1"/>
          <p:nvPr/>
        </p:nvSpPr>
        <p:spPr>
          <a:xfrm>
            <a:off x="9169400" y="36830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论文标题与作者
来源：</a:t>
            </a:r>
            <a:r>
              <a:rPr lang="en-US" altLang="zh-CN" sz="10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Experiments
</a:t>
            </a:r>
            <a:r>
              <a:rPr lang="zh-CN" altLang="en-US" sz="10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查看章节片段 →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33F1137-60CA-46B9-A066-2D223B62FB57}"/>
              </a:ext>
            </a:extLst>
          </p:cNvPr>
          <p:cNvSpPr txBox="1"/>
          <p:nvPr/>
        </p:nvSpPr>
        <p:spPr>
          <a:xfrm>
            <a:off x="4597400" y="52578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章节正文   </a:t>
            </a:r>
            <a:r>
              <a:rPr lang="en-US" altLang="zh-CN" sz="9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 </a:t>
            </a:r>
            <a:r>
              <a:rPr lang="zh-CN" altLang="en-US" sz="9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参考文献   </a:t>
            </a:r>
            <a:r>
              <a:rPr lang="en-US" altLang="zh-CN" sz="9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 </a:t>
            </a:r>
            <a:r>
              <a:rPr lang="zh-CN" altLang="en-US" sz="9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证据附录   </a:t>
            </a:r>
            <a:r>
              <a:rPr lang="en-US" altLang="zh-CN" sz="9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 arXiv </a:t>
            </a:r>
            <a:r>
              <a:rPr lang="zh-CN" altLang="en-US" sz="9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链接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13CFFEE-E5D9-4220-965F-883E76BAE3F7}"/>
              </a:ext>
            </a:extLst>
          </p:cNvPr>
          <p:cNvSpPr txBox="1"/>
          <p:nvPr/>
        </p:nvSpPr>
        <p:spPr>
          <a:xfrm>
            <a:off x="787400" y="5867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实际接口：</a:t>
            </a:r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POST /api/runs · GET /events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SSE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GET /doc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；运行结果同时写入 </a:t>
            </a:r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SQLite 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JSON </a:t>
            </a:r>
            <a:r>
              <a:rPr lang="zh-CN" altLang="en-US" sz="11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调试文件。</a:t>
            </a:r>
          </a:p>
        </p:txBody>
      </p:sp>
    </p:spTree>
    <p:extLst>
      <p:ext uri="{BB962C8B-B14F-4D97-AF65-F5344CB8AC3E}">
        <p14:creationId xmlns:p14="http://schemas.microsoft.com/office/powerpoint/2010/main" val="4166120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5503E94-61E6-4B7A-B09A-404687755B86}"/>
              </a:ext>
            </a:extLst>
          </p:cNvPr>
          <p:cNvSpPr txBox="1"/>
          <p:nvPr/>
        </p:nvSpPr>
        <p:spPr>
          <a:xfrm>
            <a:off x="711200" y="2794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  /  </a:t>
            </a:r>
            <a:r>
              <a:rPr lang="zh-CN" altLang="en-US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评测设计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2AEE95-4570-4B4F-9F98-BEBE1136F893}"/>
              </a:ext>
            </a:extLst>
          </p:cNvPr>
          <p:cNvSpPr txBox="1"/>
          <p:nvPr/>
        </p:nvSpPr>
        <p:spPr>
          <a:xfrm>
            <a:off x="711200" y="5715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7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已有自动评测，但不把现阶段总分当作质量证明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18AED3-C135-4315-971D-85FD3C60B292}"/>
              </a:ext>
            </a:extLst>
          </p:cNvPr>
          <p:cNvSpPr txBox="1"/>
          <p:nvPr/>
        </p:nvSpPr>
        <p:spPr>
          <a:xfrm>
            <a:off x="711200" y="12192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项目提供 </a:t>
            </a:r>
            <a:r>
              <a:rPr lang="en-US" altLang="zh-CN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full / naive / no-revise / no-compare / no-dense </a:t>
            </a:r>
            <a:r>
              <a:rPr lang="zh-CN" altLang="en-US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对照；指标含义和局限都写入报告。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41A8CF5-1CAC-4848-9071-99B1E4CDA092}"/>
              </a:ext>
            </a:extLst>
          </p:cNvPr>
          <p:cNvCxnSpPr/>
          <p:nvPr/>
        </p:nvCxnSpPr>
        <p:spPr>
          <a:xfrm>
            <a:off x="711200" y="1612900"/>
            <a:ext cx="10769600" cy="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DCB5A1F-C49E-4A1C-A231-C8A35332A63D}"/>
              </a:ext>
            </a:extLst>
          </p:cNvPr>
          <p:cNvCxnSpPr/>
          <p:nvPr/>
        </p:nvCxnSpPr>
        <p:spPr>
          <a:xfrm>
            <a:off x="711200" y="1612900"/>
            <a:ext cx="838200" cy="0"/>
          </a:xfrm>
          <a:prstGeom prst="line">
            <a:avLst/>
          </a:prstGeom>
          <a:ln w="25400">
            <a:solidFill>
              <a:srgbClr val="0E7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30E188F-AA17-49C8-BCBF-64E8C949F21C}"/>
              </a:ext>
            </a:extLst>
          </p:cNvPr>
          <p:cNvCxnSpPr/>
          <p:nvPr/>
        </p:nvCxnSpPr>
        <p:spPr>
          <a:xfrm>
            <a:off x="711200" y="6502400"/>
            <a:ext cx="10769600" cy="0"/>
          </a:xfrm>
          <a:prstGeom prst="line">
            <a:avLst/>
          </a:prstGeom>
          <a:ln w="889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187435E-6B5F-43FF-B5FA-7EB30D923F8D}"/>
              </a:ext>
            </a:extLst>
          </p:cNvPr>
          <p:cNvSpPr txBox="1"/>
          <p:nvPr/>
        </p:nvSpPr>
        <p:spPr>
          <a:xfrm>
            <a:off x="711200" y="66040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8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基于多智能体协同的科研文献智能综述生成系统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3C6A1CB-CF7B-4809-8E41-22DCFB5B8F45}"/>
              </a:ext>
            </a:extLst>
          </p:cNvPr>
          <p:cNvSpPr txBox="1"/>
          <p:nvPr/>
        </p:nvSpPr>
        <p:spPr>
          <a:xfrm>
            <a:off x="10998200" y="6604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8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endParaRPr lang="zh-CN" altLang="en-US" sz="800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2E7E0CE-0747-42A8-8955-A33E16E3CD25}"/>
              </a:ext>
            </a:extLst>
          </p:cNvPr>
          <p:cNvSpPr/>
          <p:nvPr/>
        </p:nvSpPr>
        <p:spPr>
          <a:xfrm>
            <a:off x="711200" y="1879600"/>
            <a:ext cx="2540000" cy="787400"/>
          </a:xfrm>
          <a:prstGeom prst="roundRect">
            <a:avLst/>
          </a:prstGeom>
          <a:solidFill>
            <a:srgbClr val="142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DFB4C8-A830-4427-A1EE-332B5CB7F0C9}"/>
              </a:ext>
            </a:extLst>
          </p:cNvPr>
          <p:cNvSpPr txBox="1"/>
          <p:nvPr/>
        </p:nvSpPr>
        <p:spPr>
          <a:xfrm>
            <a:off x="889000" y="20066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RAG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E5B0A7B-6591-4726-BDFD-4F4ADC81F107}"/>
              </a:ext>
            </a:extLst>
          </p:cNvPr>
          <p:cNvSpPr txBox="1"/>
          <p:nvPr/>
        </p:nvSpPr>
        <p:spPr>
          <a:xfrm>
            <a:off x="889000" y="23368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5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检索增强生成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4FCD132-9FFB-449D-95AC-775220DCA1AB}"/>
              </a:ext>
            </a:extLst>
          </p:cNvPr>
          <p:cNvSpPr/>
          <p:nvPr/>
        </p:nvSpPr>
        <p:spPr>
          <a:xfrm>
            <a:off x="3441700" y="1879600"/>
            <a:ext cx="25400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93C6B53-C6E8-44F9-B38F-9ADF11261C9C}"/>
              </a:ext>
            </a:extLst>
          </p:cNvPr>
          <p:cNvSpPr txBox="1"/>
          <p:nvPr/>
        </p:nvSpPr>
        <p:spPr>
          <a:xfrm>
            <a:off x="3619500" y="20066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GNN</a:t>
            </a:r>
            <a:endParaRPr lang="zh-CN" altLang="en-US" sz="1300" b="1">
              <a:solidFill>
                <a:srgbClr val="1423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EA50A82-655C-4490-9FFE-72C670D5B077}"/>
              </a:ext>
            </a:extLst>
          </p:cNvPr>
          <p:cNvSpPr txBox="1"/>
          <p:nvPr/>
        </p:nvSpPr>
        <p:spPr>
          <a:xfrm>
            <a:off x="3619500" y="23368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图神经网络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67BD444-17DF-4D05-8028-112E0F37B056}"/>
              </a:ext>
            </a:extLst>
          </p:cNvPr>
          <p:cNvSpPr/>
          <p:nvPr/>
        </p:nvSpPr>
        <p:spPr>
          <a:xfrm>
            <a:off x="6172200" y="1879600"/>
            <a:ext cx="25400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D55AF61-C283-4E52-891F-222975F209C8}"/>
              </a:ext>
            </a:extLst>
          </p:cNvPr>
          <p:cNvSpPr txBox="1"/>
          <p:nvPr/>
        </p:nvSpPr>
        <p:spPr>
          <a:xfrm>
            <a:off x="6350000" y="20066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MLLM</a:t>
            </a:r>
            <a:endParaRPr lang="zh-CN" altLang="en-US" sz="1300" b="1">
              <a:solidFill>
                <a:srgbClr val="1423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42D510C-7551-4C69-9CE6-ECBE5EF08123}"/>
              </a:ext>
            </a:extLst>
          </p:cNvPr>
          <p:cNvSpPr txBox="1"/>
          <p:nvPr/>
        </p:nvSpPr>
        <p:spPr>
          <a:xfrm>
            <a:off x="6350000" y="23368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多模态大模型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2737567-4A75-4AEF-A831-DF25CEBCC600}"/>
              </a:ext>
            </a:extLst>
          </p:cNvPr>
          <p:cNvSpPr/>
          <p:nvPr/>
        </p:nvSpPr>
        <p:spPr>
          <a:xfrm>
            <a:off x="8902700" y="1879600"/>
            <a:ext cx="25400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02219E2-1AD9-472F-824C-C7D1471F1C90}"/>
              </a:ext>
            </a:extLst>
          </p:cNvPr>
          <p:cNvSpPr txBox="1"/>
          <p:nvPr/>
        </p:nvSpPr>
        <p:spPr>
          <a:xfrm>
            <a:off x="9080500" y="20066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Codegen</a:t>
            </a:r>
            <a:endParaRPr lang="zh-CN" altLang="en-US" sz="1300" b="1">
              <a:solidFill>
                <a:srgbClr val="1423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6F4DEF4-CD73-4AAF-A6E9-09949AE1BA0A}"/>
              </a:ext>
            </a:extLst>
          </p:cNvPr>
          <p:cNvSpPr txBox="1"/>
          <p:nvPr/>
        </p:nvSpPr>
        <p:spPr>
          <a:xfrm>
            <a:off x="9080500" y="23368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代码生成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2BCA00C-F530-49D5-BD49-8ED908BD28E0}"/>
              </a:ext>
            </a:extLst>
          </p:cNvPr>
          <p:cNvSpPr/>
          <p:nvPr/>
        </p:nvSpPr>
        <p:spPr>
          <a:xfrm>
            <a:off x="711200" y="2946400"/>
            <a:ext cx="2540000" cy="172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B5D5E48-F22C-4849-8B34-44AD28C12590}"/>
              </a:ext>
            </a:extLst>
          </p:cNvPr>
          <p:cNvSpPr txBox="1"/>
          <p:nvPr/>
        </p:nvSpPr>
        <p:spPr>
          <a:xfrm>
            <a:off x="889000" y="31750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文献覆盖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94BCEF4-37F5-4540-A1E0-C7B1429D9BD2}"/>
              </a:ext>
            </a:extLst>
          </p:cNvPr>
          <p:cNvSpPr txBox="1"/>
          <p:nvPr/>
        </p:nvSpPr>
        <p:spPr>
          <a:xfrm>
            <a:off x="889000" y="37084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must_cite </a:t>
            </a:r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衡量核心论文命中；缺失部分需要人工补齐。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946283C-CF74-4631-8FDE-38EAF977B690}"/>
              </a:ext>
            </a:extLst>
          </p:cNvPr>
          <p:cNvSpPr/>
          <p:nvPr/>
        </p:nvSpPr>
        <p:spPr>
          <a:xfrm>
            <a:off x="3441700" y="2946400"/>
            <a:ext cx="2540000" cy="1727200"/>
          </a:xfrm>
          <a:prstGeom prst="roundRect">
            <a:avLst/>
          </a:prstGeom>
          <a:solidFill>
            <a:srgbClr val="F0F4F7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95038E-FB00-4BAB-9BF1-C85F3BFCAFCB}"/>
              </a:ext>
            </a:extLst>
          </p:cNvPr>
          <p:cNvSpPr txBox="1"/>
          <p:nvPr/>
        </p:nvSpPr>
        <p:spPr>
          <a:xfrm>
            <a:off x="3619500" y="31750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论点覆盖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819C458-BF99-443A-A810-9110111213BE}"/>
              </a:ext>
            </a:extLst>
          </p:cNvPr>
          <p:cNvSpPr txBox="1"/>
          <p:nvPr/>
        </p:nvSpPr>
        <p:spPr>
          <a:xfrm>
            <a:off x="3619500" y="37084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根据 </a:t>
            </a:r>
            <a:r>
              <a:rPr lang="en-US" altLang="zh-CN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gold </a:t>
            </a:r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中的 </a:t>
            </a:r>
            <a:r>
              <a:rPr lang="en-US" altLang="zh-CN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must_cover </a:t>
            </a:r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与关键词检查必要论点。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7DFE16BF-9B11-40CB-8F16-B7ADDE87947C}"/>
              </a:ext>
            </a:extLst>
          </p:cNvPr>
          <p:cNvSpPr/>
          <p:nvPr/>
        </p:nvSpPr>
        <p:spPr>
          <a:xfrm>
            <a:off x="6172200" y="2946400"/>
            <a:ext cx="2540000" cy="172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BFAA678-D055-4124-9792-4B961A28456D}"/>
              </a:ext>
            </a:extLst>
          </p:cNvPr>
          <p:cNvSpPr txBox="1"/>
          <p:nvPr/>
        </p:nvSpPr>
        <p:spPr>
          <a:xfrm>
            <a:off x="6350000" y="31750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结构与引用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640B872-94C4-4C68-AF07-BDAC82F597AE}"/>
              </a:ext>
            </a:extLst>
          </p:cNvPr>
          <p:cNvSpPr txBox="1"/>
          <p:nvPr/>
        </p:nvSpPr>
        <p:spPr>
          <a:xfrm>
            <a:off x="6350000" y="37084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记录章节完整性、引用存在率与引用精度。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8137502E-281C-41D2-9DB9-D49D0172D825}"/>
              </a:ext>
            </a:extLst>
          </p:cNvPr>
          <p:cNvSpPr/>
          <p:nvPr/>
        </p:nvSpPr>
        <p:spPr>
          <a:xfrm>
            <a:off x="8902700" y="2946400"/>
            <a:ext cx="2540000" cy="1727200"/>
          </a:xfrm>
          <a:prstGeom prst="roundRect">
            <a:avLst/>
          </a:prstGeom>
          <a:solidFill>
            <a:srgbClr val="F0F4F7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DBC0769-BF3A-47FC-8E83-21081C820417}"/>
              </a:ext>
            </a:extLst>
          </p:cNvPr>
          <p:cNvSpPr txBox="1"/>
          <p:nvPr/>
        </p:nvSpPr>
        <p:spPr>
          <a:xfrm>
            <a:off x="9080500" y="31750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运行与修复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32C5205-C4E7-4A3C-8ABE-8CD9741A208F}"/>
              </a:ext>
            </a:extLst>
          </p:cNvPr>
          <p:cNvSpPr txBox="1"/>
          <p:nvPr/>
        </p:nvSpPr>
        <p:spPr>
          <a:xfrm>
            <a:off x="9080500" y="37084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比较耗时、保留句、丢弃句和修复数量。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CA9EB5BB-A8C0-4723-B916-BAC3208AEA47}"/>
              </a:ext>
            </a:extLst>
          </p:cNvPr>
          <p:cNvSpPr/>
          <p:nvPr/>
        </p:nvSpPr>
        <p:spPr>
          <a:xfrm>
            <a:off x="711200" y="4953000"/>
            <a:ext cx="10769600" cy="1066800"/>
          </a:xfrm>
          <a:prstGeom prst="roundRect">
            <a:avLst/>
          </a:prstGeom>
          <a:solidFill>
            <a:srgbClr val="F0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20D732D-F554-4C45-8230-29702F2AFBBB}"/>
              </a:ext>
            </a:extLst>
          </p:cNvPr>
          <p:cNvSpPr txBox="1"/>
          <p:nvPr/>
        </p:nvSpPr>
        <p:spPr>
          <a:xfrm>
            <a:off x="965200" y="51308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当前观察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F67E8D0-2848-468C-A03C-0A23543C31C6}"/>
              </a:ext>
            </a:extLst>
          </p:cNvPr>
          <p:cNvSpPr txBox="1"/>
          <p:nvPr/>
        </p:nvSpPr>
        <p:spPr>
          <a:xfrm>
            <a:off x="2286000" y="5080000"/>
            <a:ext cx="876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离线模板下 </a:t>
            </a:r>
            <a:r>
              <a:rPr lang="en-US" altLang="zh-CN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naive </a:t>
            </a:r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full </a:t>
            </a:r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的质量分可能持平，说明现阶段总分的区分度有限，不能据此宣称多智能体优于单智能体。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E879794-421F-40E2-B147-20F348476178}"/>
              </a:ext>
            </a:extLst>
          </p:cNvPr>
          <p:cNvSpPr txBox="1"/>
          <p:nvPr/>
        </p:nvSpPr>
        <p:spPr>
          <a:xfrm>
            <a:off x="965200" y="56388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下一步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A805B52-6115-4B19-BC69-CF0E8DECD8CE}"/>
              </a:ext>
            </a:extLst>
          </p:cNvPr>
          <p:cNvSpPr txBox="1"/>
          <p:nvPr/>
        </p:nvSpPr>
        <p:spPr>
          <a:xfrm>
            <a:off x="2286000" y="5588000"/>
            <a:ext cx="876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确定 </a:t>
            </a:r>
            <a:r>
              <a:rPr lang="en-US" altLang="zh-CN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</a:t>
            </a:r>
            <a:r>
              <a:rPr lang="zh-CN" altLang="en-US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个计算机子方向，每方向扩展 </a:t>
            </a:r>
            <a:r>
              <a:rPr lang="en-US" altLang="zh-CN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个主题；补齐 </a:t>
            </a:r>
            <a:r>
              <a:rPr lang="en-US" altLang="zh-CN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must_cite</a:t>
            </a:r>
            <a:r>
              <a:rPr lang="zh-CN" altLang="en-US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、人工引用判断与综述质量评分。</a:t>
            </a:r>
          </a:p>
        </p:txBody>
      </p:sp>
    </p:spTree>
    <p:extLst>
      <p:ext uri="{BB962C8B-B14F-4D97-AF65-F5344CB8AC3E}">
        <p14:creationId xmlns:p14="http://schemas.microsoft.com/office/powerpoint/2010/main" val="310374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D5D3840-C3D1-4144-B001-5FDAB5837E24}"/>
              </a:ext>
            </a:extLst>
          </p:cNvPr>
          <p:cNvSpPr txBox="1"/>
          <p:nvPr/>
        </p:nvSpPr>
        <p:spPr>
          <a:xfrm>
            <a:off x="711200" y="2794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  /  技术栈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CF9E64-2DEF-4C13-8892-34817DC47060}"/>
              </a:ext>
            </a:extLst>
          </p:cNvPr>
          <p:cNvSpPr txBox="1"/>
          <p:nvPr/>
        </p:nvSpPr>
        <p:spPr>
          <a:xfrm>
            <a:off x="711200" y="5715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7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语言、框架与算法：每个选择都能落地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5F2F63-FA2C-4CAB-8EED-6B98C6C82AF6}"/>
              </a:ext>
            </a:extLst>
          </p:cNvPr>
          <p:cNvSpPr txBox="1"/>
          <p:nvPr/>
        </p:nvSpPr>
        <p:spPr>
          <a:xfrm>
            <a:off x="711200" y="12192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只用 Python 标准库加一个编排库；依赖能离线装进 .deps，换机器也能跑。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F5438FE-315F-40C8-B543-672FA87A5182}"/>
              </a:ext>
            </a:extLst>
          </p:cNvPr>
          <p:cNvCxnSpPr/>
          <p:nvPr/>
        </p:nvCxnSpPr>
        <p:spPr>
          <a:xfrm>
            <a:off x="711200" y="1612900"/>
            <a:ext cx="10769600" cy="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58BFC35-F830-4FA9-8340-40FBCCB6A928}"/>
              </a:ext>
            </a:extLst>
          </p:cNvPr>
          <p:cNvCxnSpPr/>
          <p:nvPr/>
        </p:nvCxnSpPr>
        <p:spPr>
          <a:xfrm>
            <a:off x="711200" y="1612900"/>
            <a:ext cx="838200" cy="0"/>
          </a:xfrm>
          <a:prstGeom prst="line">
            <a:avLst/>
          </a:prstGeom>
          <a:ln w="25400">
            <a:solidFill>
              <a:srgbClr val="0E7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0407994-A0E7-4375-BDF6-A46D07F93D54}"/>
              </a:ext>
            </a:extLst>
          </p:cNvPr>
          <p:cNvCxnSpPr/>
          <p:nvPr/>
        </p:nvCxnSpPr>
        <p:spPr>
          <a:xfrm>
            <a:off x="711200" y="6502400"/>
            <a:ext cx="10769600" cy="0"/>
          </a:xfrm>
          <a:prstGeom prst="line">
            <a:avLst/>
          </a:prstGeom>
          <a:ln w="889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E3C56DC7-1598-487E-99C4-B51934027321}"/>
              </a:ext>
            </a:extLst>
          </p:cNvPr>
          <p:cNvSpPr txBox="1"/>
          <p:nvPr/>
        </p:nvSpPr>
        <p:spPr>
          <a:xfrm>
            <a:off x="711200" y="66040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8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基于多智能体协同的科研文献智能综述生成系统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5BAC407-0DD2-4942-92E2-C9399A116C76}"/>
              </a:ext>
            </a:extLst>
          </p:cNvPr>
          <p:cNvSpPr txBox="1"/>
          <p:nvPr/>
        </p:nvSpPr>
        <p:spPr>
          <a:xfrm>
            <a:off x="10998200" y="6604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8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endParaRPr lang="zh-CN" altLang="en-US" sz="800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9B7AE70-9064-4950-80CF-355669DD2EF8}"/>
              </a:ext>
            </a:extLst>
          </p:cNvPr>
          <p:cNvSpPr/>
          <p:nvPr/>
        </p:nvSpPr>
        <p:spPr>
          <a:xfrm>
            <a:off x="711200" y="1879600"/>
            <a:ext cx="4953000" cy="4140200"/>
          </a:xfrm>
          <a:prstGeom prst="roundRect">
            <a:avLst/>
          </a:prstGeom>
          <a:solidFill>
            <a:srgbClr val="142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0D1B2AC-9230-4245-9B2A-C042AA9F4FA2}"/>
              </a:ext>
            </a:extLst>
          </p:cNvPr>
          <p:cNvSpPr txBox="1"/>
          <p:nvPr/>
        </p:nvSpPr>
        <p:spPr>
          <a:xfrm>
            <a:off x="1016000" y="21844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技术栈  /  Python 3.10+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69BC6DB-7F4D-4445-9829-335F1002F06E}"/>
              </a:ext>
            </a:extLst>
          </p:cNvPr>
          <p:cNvSpPr txBox="1"/>
          <p:nvPr/>
        </p:nvSpPr>
        <p:spPr>
          <a:xfrm>
            <a:off x="1016000" y="2819400"/>
            <a:ext cx="4089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sz="1150" b="0">
                <a:solidFill>
                  <a:srgbClr val="DCDCDC"/>
                </a:solidFill>
                <a:latin typeface="Microsoft YaHei"/>
              </a:rPr>
              <a:t>✓ Python 3.10+，标准库为主（urllib / sqlite3 / http.server）</a:t>
            </a:r>
          </a:p>
          <a:p>
            <a:r>
              <a:rPr sz="1150" b="0">
                <a:solidFill>
                  <a:srgbClr val="DCDCDC"/>
                </a:solidFill>
                <a:latin typeface="Microsoft YaHei"/>
              </a:rPr>
              <a:t>✓ LangGraph 1.2.18：状态图 / Send / defer / 检查点</a:t>
            </a:r>
          </a:p>
          <a:p>
            <a:r>
              <a:rPr sz="1150" b="0">
                <a:solidFill>
                  <a:srgbClr val="DCDCDC"/>
                </a:solidFill>
                <a:latin typeface="Microsoft YaHei"/>
              </a:rPr>
              <a:t>✓ BM25 + RRF：自实现，零依赖、可解释</a:t>
            </a:r>
          </a:p>
          <a:p>
            <a:r>
              <a:rPr sz="1150" b="0">
                <a:solidFill>
                  <a:srgbClr val="DCDCDC"/>
                </a:solidFill>
                <a:latin typeface="Microsoft YaHei"/>
              </a:rPr>
              <a:t>✓ TF-IDF + 贪心聚类：方法族与演进边</a:t>
            </a:r>
          </a:p>
          <a:p>
            <a:r>
              <a:rPr sz="1150" b="0">
                <a:solidFill>
                  <a:srgbClr val="DCDCDC"/>
                </a:solidFill>
                <a:latin typeface="Microsoft YaHei"/>
              </a:rPr>
              <a:t>✓ HTML / LaTeX / pypdf：全文解析与分节</a:t>
            </a:r>
          </a:p>
          <a:p>
            <a:r>
              <a:rPr sz="1150" b="0">
                <a:solidFill>
                  <a:srgbClr val="DCDCDC"/>
                </a:solidFill>
                <a:latin typeface="Microsoft YaHei"/>
              </a:rPr>
              <a:t>✓ SQLite 默认、MySQL 可选（pymysql）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BBEF2CB-2818-4363-AD2F-BFB0C728DC0B}"/>
              </a:ext>
            </a:extLst>
          </p:cNvPr>
          <p:cNvSpPr txBox="1"/>
          <p:nvPr/>
        </p:nvSpPr>
        <p:spPr>
          <a:xfrm>
            <a:off x="1016000" y="55626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>
                <a:solidFill>
                  <a:srgbClr val="AAAA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依赖与版本写在 requirements.txt，安装脚本在 tools/fetch_deps.py。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C677EF1-CC63-420D-9295-172B17DA220E}"/>
              </a:ext>
            </a:extLst>
          </p:cNvPr>
          <p:cNvSpPr/>
          <p:nvPr/>
        </p:nvSpPr>
        <p:spPr>
          <a:xfrm>
            <a:off x="6070600" y="1879600"/>
            <a:ext cx="54102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2807FC5-29E4-4B55-8698-79ECE4AA95AD}"/>
              </a:ext>
            </a:extLst>
          </p:cNvPr>
          <p:cNvSpPr txBox="1"/>
          <p:nvPr/>
        </p:nvSpPr>
        <p:spPr>
          <a:xfrm>
            <a:off x="6273800" y="20320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900" b="1">
              <a:solidFill>
                <a:srgbClr val="0E7C8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B96E6F6-ECED-4D62-8877-6EC141565C20}"/>
              </a:ext>
            </a:extLst>
          </p:cNvPr>
          <p:cNvSpPr txBox="1"/>
          <p:nvPr/>
        </p:nvSpPr>
        <p:spPr>
          <a:xfrm>
            <a:off x="6832600" y="19939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5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编排层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21BAF6B-C434-4323-9A06-2CAEC2E627A6}"/>
              </a:ext>
            </a:extLst>
          </p:cNvPr>
          <p:cNvSpPr txBox="1"/>
          <p:nvPr/>
        </p:nvSpPr>
        <p:spPr>
          <a:xfrm>
            <a:off x="6832600" y="2336800"/>
            <a:ext cx="434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LangGraph 状态图：Send×N 并行、defer 汇合、条件边回退与检查点。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0D41D30-1F49-4533-B64F-606ACE63E41D}"/>
              </a:ext>
            </a:extLst>
          </p:cNvPr>
          <p:cNvSpPr/>
          <p:nvPr/>
        </p:nvSpPr>
        <p:spPr>
          <a:xfrm>
            <a:off x="6070600" y="2921000"/>
            <a:ext cx="5410200" cy="863600"/>
          </a:xfrm>
          <a:prstGeom prst="roundRect">
            <a:avLst/>
          </a:prstGeom>
          <a:solidFill>
            <a:srgbClr val="F0F4F7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CA760F3-2363-46DD-9539-D88731548967}"/>
              </a:ext>
            </a:extLst>
          </p:cNvPr>
          <p:cNvSpPr txBox="1"/>
          <p:nvPr/>
        </p:nvSpPr>
        <p:spPr>
          <a:xfrm>
            <a:off x="6273800" y="30734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900" b="1">
              <a:solidFill>
                <a:srgbClr val="0E7C8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E0D6F8A-035E-4BEB-A2AF-C50491935D84}"/>
              </a:ext>
            </a:extLst>
          </p:cNvPr>
          <p:cNvSpPr txBox="1"/>
          <p:nvPr/>
        </p:nvSpPr>
        <p:spPr>
          <a:xfrm>
            <a:off x="6832600" y="30353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5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检索层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6F07C33-AF87-43E7-8F9E-F6A3CF8E0633}"/>
              </a:ext>
            </a:extLst>
          </p:cNvPr>
          <p:cNvSpPr txBox="1"/>
          <p:nvPr/>
        </p:nvSpPr>
        <p:spPr>
          <a:xfrm>
            <a:off x="6832600" y="3378200"/>
            <a:ext cx="434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四类查询 + RRF(k=60) + 引用图扩展；BM25 与向量混合召回。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E8BBFF6-7E75-47DC-8C10-419A39B7EB6B}"/>
              </a:ext>
            </a:extLst>
          </p:cNvPr>
          <p:cNvSpPr/>
          <p:nvPr/>
        </p:nvSpPr>
        <p:spPr>
          <a:xfrm>
            <a:off x="6070600" y="3962400"/>
            <a:ext cx="54102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1058611-F02C-40A9-9888-2B17D9D81ADB}"/>
              </a:ext>
            </a:extLst>
          </p:cNvPr>
          <p:cNvSpPr txBox="1"/>
          <p:nvPr/>
        </p:nvSpPr>
        <p:spPr>
          <a:xfrm>
            <a:off x="6273800" y="41148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900" b="1">
              <a:solidFill>
                <a:srgbClr val="0E7C8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823BE87-ACA2-4F8B-BB3D-4349AE38D45F}"/>
              </a:ext>
            </a:extLst>
          </p:cNvPr>
          <p:cNvSpPr txBox="1"/>
          <p:nvPr/>
        </p:nvSpPr>
        <p:spPr>
          <a:xfrm>
            <a:off x="6832600" y="40767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5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全文层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EEA5173-A52B-4E21-B717-7BA136C84489}"/>
              </a:ext>
            </a:extLst>
          </p:cNvPr>
          <p:cNvSpPr txBox="1"/>
          <p:nvPr/>
        </p:nvSpPr>
        <p:spPr>
          <a:xfrm>
            <a:off x="6832600" y="4419600"/>
            <a:ext cx="434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arXiv HTML → ar5iv → LaTeX → PDF 四级回退，按章节切 span。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61FE42F-F0CB-42E0-86EE-94E3F91C8D28}"/>
              </a:ext>
            </a:extLst>
          </p:cNvPr>
          <p:cNvSpPr/>
          <p:nvPr/>
        </p:nvSpPr>
        <p:spPr>
          <a:xfrm>
            <a:off x="6070600" y="5003800"/>
            <a:ext cx="5410200" cy="863600"/>
          </a:xfrm>
          <a:prstGeom prst="roundRect">
            <a:avLst/>
          </a:prstGeom>
          <a:solidFill>
            <a:srgbClr val="F0F4F7"/>
          </a:solidFill>
          <a:ln w="12700">
            <a:solidFill>
              <a:srgbClr val="E3E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77634D2-1465-421E-9DD2-C8354C6A7AAD}"/>
              </a:ext>
            </a:extLst>
          </p:cNvPr>
          <p:cNvSpPr txBox="1"/>
          <p:nvPr/>
        </p:nvSpPr>
        <p:spPr>
          <a:xfrm>
            <a:off x="6273800" y="51562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900" b="1">
              <a:solidFill>
                <a:srgbClr val="0E7C8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4751275-9FCF-4C35-9CBB-A00E6FBDCAE2}"/>
              </a:ext>
            </a:extLst>
          </p:cNvPr>
          <p:cNvSpPr txBox="1"/>
          <p:nvPr/>
        </p:nvSpPr>
        <p:spPr>
          <a:xfrm>
            <a:off x="6832600" y="51181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5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校验层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798CA05-06D1-4B93-A333-D2EB1DCB8103}"/>
              </a:ext>
            </a:extLst>
          </p:cNvPr>
          <p:cNvSpPr txBox="1"/>
          <p:nvPr/>
        </p:nvSpPr>
        <p:spPr>
          <a:xfrm>
            <a:off x="6832600" y="5461000"/>
            <a:ext cx="434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存在性 → 数字一致 → 双向覆盖 → 模型蕴含 → 重挂修复。</a:t>
            </a:r>
          </a:p>
        </p:txBody>
      </p:sp>
    </p:spTree>
    <p:extLst>
      <p:ext uri="{BB962C8B-B14F-4D97-AF65-F5344CB8AC3E}">
        <p14:creationId xmlns:p14="http://schemas.microsoft.com/office/powerpoint/2010/main" val="4186465682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834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0E7C86"/>
                </a:solidFill>
                <a:latin typeface="Microsoft YaHei"/>
              </a:rPr>
              <a:t>13  /  代码模块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1079906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14233A"/>
                </a:solidFill>
                <a:latin typeface="Microsoft YaHei"/>
              </a:rPr>
              <a:t>八个子包，各管一件事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16152"/>
            <a:ext cx="107990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7A8696"/>
                </a:solidFill>
                <a:latin typeface="Microsoft YaHei"/>
              </a:rPr>
              <a:t>依赖方向自上而下：core 不依赖任何子包，上层只依赖下层的接口。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609344"/>
            <a:ext cx="10771631" cy="0"/>
          </a:xfrm>
          <a:prstGeom prst="line">
            <a:avLst/>
          </a:prstGeom>
          <a:ln w="9525">
            <a:solidFill>
              <a:srgbClr val="E3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13232" y="1609344"/>
            <a:ext cx="841248" cy="0"/>
          </a:xfrm>
          <a:prstGeom prst="line">
            <a:avLst/>
          </a:prstGeom>
          <a:ln w="2540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13232" y="6501384"/>
            <a:ext cx="10771631" cy="0"/>
          </a:xfrm>
          <a:prstGeom prst="line">
            <a:avLst/>
          </a:prstGeom>
          <a:ln w="9525">
            <a:solidFill>
              <a:srgbClr val="E3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3232" y="6601968"/>
            <a:ext cx="71140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7A8696"/>
                </a:solidFill>
                <a:latin typeface="Microsoft YaHei"/>
              </a:rPr>
              <a:t>基于多智能体协同的科研文献智能综述生成系统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5230368" cy="768096"/>
          </a:xfrm>
          <a:prstGeom prst="roundRect">
            <a:avLst>
              <a:gd name="adj" fmla="val 8000"/>
            </a:avLst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46304" tIns="91440" bIns="54864"/>
          <a:lstStyle/>
          <a:p>
            <a:pPr algn="l"/>
            <a:r>
              <a:rPr sz="1300" b="1">
                <a:solidFill>
                  <a:srgbClr val="14233A"/>
                </a:solidFill>
                <a:latin typeface="Microsoft YaHei"/>
              </a:rPr>
              <a:t>core/</a:t>
            </a:r>
          </a:p>
          <a:p>
            <a:pPr algn="l"/>
            <a:r>
              <a:rPr sz="1000" b="0">
                <a:solidFill>
                  <a:srgbClr val="333D4A"/>
                </a:solidFill>
                <a:latin typeface="Microsoft YaHei"/>
              </a:rPr>
              <a:t>数据契约（10 类）与文本工具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816352"/>
            <a:ext cx="5230368" cy="768096"/>
          </a:xfrm>
          <a:prstGeom prst="roundRect">
            <a:avLst>
              <a:gd name="adj" fmla="val 8000"/>
            </a:avLst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46304" tIns="91440" bIns="54864"/>
          <a:lstStyle/>
          <a:p>
            <a:pPr algn="l"/>
            <a:r>
              <a:rPr sz="1300" b="1">
                <a:solidFill>
                  <a:srgbClr val="14233A"/>
                </a:solidFill>
                <a:latin typeface="Microsoft YaHei"/>
              </a:rPr>
              <a:t>llm/</a:t>
            </a:r>
          </a:p>
          <a:p>
            <a:pPr algn="l"/>
            <a:r>
              <a:rPr sz="1000" b="0">
                <a:solidFill>
                  <a:srgbClr val="333D4A"/>
                </a:solidFill>
                <a:latin typeface="Microsoft YaHei"/>
              </a:rPr>
              <a:t>OpenAI 兼容客户端与 mock 判定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49039"/>
            <a:ext cx="5230368" cy="768096"/>
          </a:xfrm>
          <a:prstGeom prst="roundRect">
            <a:avLst>
              <a:gd name="adj" fmla="val 8000"/>
            </a:avLst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46304" tIns="91440" bIns="54864"/>
          <a:lstStyle/>
          <a:p>
            <a:pPr algn="l"/>
            <a:r>
              <a:rPr sz="1300" b="1">
                <a:solidFill>
                  <a:srgbClr val="14233A"/>
                </a:solidFill>
                <a:latin typeface="Microsoft YaHei"/>
              </a:rPr>
              <a:t>retrieval/</a:t>
            </a:r>
          </a:p>
          <a:p>
            <a:pPr algn="l"/>
            <a:r>
              <a:rPr sz="1000" b="0">
                <a:solidFill>
                  <a:srgbClr val="333D4A"/>
                </a:solidFill>
                <a:latin typeface="Microsoft YaHei"/>
              </a:rPr>
              <a:t>arXiv 检索、全文获取、BM25、段落索引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681728"/>
            <a:ext cx="5230368" cy="768096"/>
          </a:xfrm>
          <a:prstGeom prst="roundRect">
            <a:avLst>
              <a:gd name="adj" fmla="val 8000"/>
            </a:avLst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46304" tIns="91440" bIns="54864"/>
          <a:lstStyle/>
          <a:p>
            <a:pPr algn="l"/>
            <a:r>
              <a:rPr sz="1300" b="1">
                <a:solidFill>
                  <a:srgbClr val="14233A"/>
                </a:solidFill>
                <a:latin typeface="Microsoft YaHei"/>
              </a:rPr>
              <a:t>agents/</a:t>
            </a:r>
          </a:p>
          <a:p>
            <a:pPr algn="l"/>
            <a:r>
              <a:rPr sz="1000" b="0">
                <a:solidFill>
                  <a:srgbClr val="333D4A"/>
                </a:solidFill>
                <a:latin typeface="Microsoft YaHei"/>
              </a:rPr>
              <a:t>拆题 / 读卡 / 对比 / 写作 / 校验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883664"/>
            <a:ext cx="5230368" cy="768096"/>
          </a:xfrm>
          <a:prstGeom prst="roundRect">
            <a:avLst>
              <a:gd name="adj" fmla="val 8000"/>
            </a:avLst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46304" tIns="91440" bIns="54864"/>
          <a:lstStyle/>
          <a:p>
            <a:pPr algn="l"/>
            <a:r>
              <a:rPr sz="1300" b="1">
                <a:solidFill>
                  <a:srgbClr val="14233A"/>
                </a:solidFill>
                <a:latin typeface="Microsoft YaHei"/>
              </a:rPr>
              <a:t>orchestration/</a:t>
            </a:r>
          </a:p>
          <a:p>
            <a:pPr algn="l"/>
            <a:r>
              <a:rPr sz="1000" b="0">
                <a:solidFill>
                  <a:srgbClr val="333D4A"/>
                </a:solidFill>
                <a:latin typeface="Microsoft YaHei"/>
              </a:rPr>
              <a:t>状态图编排与统一收尾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816352"/>
            <a:ext cx="5230368" cy="768096"/>
          </a:xfrm>
          <a:prstGeom prst="roundRect">
            <a:avLst>
              <a:gd name="adj" fmla="val 8000"/>
            </a:avLst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46304" tIns="91440" bIns="54864"/>
          <a:lstStyle/>
          <a:p>
            <a:pPr algn="l"/>
            <a:r>
              <a:rPr sz="1300" b="1">
                <a:solidFill>
                  <a:srgbClr val="14233A"/>
                </a:solidFill>
                <a:latin typeface="Microsoft YaHei"/>
              </a:rPr>
              <a:t>storage/</a:t>
            </a:r>
          </a:p>
          <a:p>
            <a:pPr algn="l"/>
            <a:r>
              <a:rPr sz="1000" b="0">
                <a:solidFill>
                  <a:srgbClr val="333D4A"/>
                </a:solidFill>
                <a:latin typeface="Microsoft YaHei"/>
              </a:rPr>
              <a:t>SQLite / MySQL 运行档案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3749039"/>
            <a:ext cx="5230368" cy="768096"/>
          </a:xfrm>
          <a:prstGeom prst="roundRect">
            <a:avLst>
              <a:gd name="adj" fmla="val 8000"/>
            </a:avLst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46304" tIns="91440" bIns="54864"/>
          <a:lstStyle/>
          <a:p>
            <a:pPr algn="l"/>
            <a:r>
              <a:rPr sz="1300" b="1">
                <a:solidFill>
                  <a:srgbClr val="14233A"/>
                </a:solidFill>
                <a:latin typeface="Microsoft YaHei"/>
              </a:rPr>
              <a:t>evaluation/</a:t>
            </a:r>
          </a:p>
          <a:p>
            <a:pPr algn="l"/>
            <a:r>
              <a:rPr sz="1000" b="0">
                <a:solidFill>
                  <a:srgbClr val="333D4A"/>
                </a:solidFill>
                <a:latin typeface="Microsoft YaHei"/>
              </a:rPr>
              <a:t>五项指标与评测报告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4681728"/>
            <a:ext cx="5230368" cy="768096"/>
          </a:xfrm>
          <a:prstGeom prst="roundRect">
            <a:avLst>
              <a:gd name="adj" fmla="val 8000"/>
            </a:avLst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46304" tIns="91440" bIns="54864"/>
          <a:lstStyle/>
          <a:p>
            <a:pPr algn="l"/>
            <a:r>
              <a:rPr sz="1300" b="1">
                <a:solidFill>
                  <a:srgbClr val="14233A"/>
                </a:solidFill>
                <a:latin typeface="Microsoft YaHei"/>
              </a:rPr>
              <a:t>web/</a:t>
            </a:r>
          </a:p>
          <a:p>
            <a:pPr algn="l"/>
            <a:r>
              <a:rPr sz="1000" b="0">
                <a:solidFill>
                  <a:srgbClr val="333D4A"/>
                </a:solidFill>
                <a:latin typeface="Microsoft YaHei"/>
              </a:rPr>
              <a:t>标准库 HTTP + SSE 三页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742432"/>
            <a:ext cx="107716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333D4A"/>
                </a:solidFill>
                <a:latin typeface="Microsoft YaHei"/>
              </a:rPr>
              <a:t>一次运行产出 11 个文件（review.md、cards / families / claims / issues / stats / trace…），同步写入 7 张表；tests/ 55 项，覆盖全文解析、校验规则与存储方言。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0232" y="6601968"/>
            <a:ext cx="484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7A8696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EEA58F-6B53-4F22-A400-56E269BDFD47}"/>
              </a:ext>
            </a:extLst>
          </p:cNvPr>
          <p:cNvSpPr txBox="1"/>
          <p:nvPr/>
        </p:nvSpPr>
        <p:spPr>
          <a:xfrm>
            <a:off x="711200" y="2794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0E7C8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  /  风险与边界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E874FB-023B-41B2-96A6-64FDDC1BFAFD}"/>
              </a:ext>
            </a:extLst>
          </p:cNvPr>
          <p:cNvSpPr txBox="1"/>
          <p:nvPr/>
        </p:nvSpPr>
        <p:spPr>
          <a:xfrm>
            <a:off x="711200" y="5715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7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把可能做不好的地方提前说清楚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17EEBF-17B7-4DB3-9025-D93D0AF18BDD}"/>
              </a:ext>
            </a:extLst>
          </p:cNvPr>
          <p:cNvSpPr txBox="1"/>
          <p:nvPr/>
        </p:nvSpPr>
        <p:spPr>
          <a:xfrm>
            <a:off x="711200" y="12192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原型优先保证流程完整、结果可查，再讨论更复杂的模型与算法。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AD97D02-D3D7-42CC-9404-C1CB56D58F83}"/>
              </a:ext>
            </a:extLst>
          </p:cNvPr>
          <p:cNvCxnSpPr/>
          <p:nvPr/>
        </p:nvCxnSpPr>
        <p:spPr>
          <a:xfrm>
            <a:off x="711200" y="1612900"/>
            <a:ext cx="10769600" cy="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A2DC0E8-372F-4495-92D8-0CF1C71A2829}"/>
              </a:ext>
            </a:extLst>
          </p:cNvPr>
          <p:cNvCxnSpPr/>
          <p:nvPr/>
        </p:nvCxnSpPr>
        <p:spPr>
          <a:xfrm>
            <a:off x="711200" y="1612900"/>
            <a:ext cx="838200" cy="0"/>
          </a:xfrm>
          <a:prstGeom prst="line">
            <a:avLst/>
          </a:prstGeom>
          <a:ln w="25400">
            <a:solidFill>
              <a:srgbClr val="0E7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085F457-F58C-49E4-B368-20CE6AF4A92D}"/>
              </a:ext>
            </a:extLst>
          </p:cNvPr>
          <p:cNvCxnSpPr/>
          <p:nvPr/>
        </p:nvCxnSpPr>
        <p:spPr>
          <a:xfrm>
            <a:off x="711200" y="6502400"/>
            <a:ext cx="10769600" cy="0"/>
          </a:xfrm>
          <a:prstGeom prst="line">
            <a:avLst/>
          </a:prstGeom>
          <a:ln w="889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D0DCCE5-C4E2-4E5C-A4E2-3FFA20EEF207}"/>
              </a:ext>
            </a:extLst>
          </p:cNvPr>
          <p:cNvSpPr txBox="1"/>
          <p:nvPr/>
        </p:nvSpPr>
        <p:spPr>
          <a:xfrm>
            <a:off x="711200" y="66040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8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基于多智能体协同的科研文献智能综述生成系统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6CF0B7B-B116-4EC7-8871-001E26737676}"/>
              </a:ext>
            </a:extLst>
          </p:cNvPr>
          <p:cNvSpPr txBox="1"/>
          <p:nvPr/>
        </p:nvSpPr>
        <p:spPr>
          <a:xfrm>
            <a:off x="10998200" y="6604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800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endParaRPr lang="zh-CN" altLang="en-US" sz="800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97EB5B6-EAE7-4D6B-959D-09423262EC2E}"/>
              </a:ext>
            </a:extLst>
          </p:cNvPr>
          <p:cNvSpPr txBox="1"/>
          <p:nvPr/>
        </p:nvSpPr>
        <p:spPr>
          <a:xfrm>
            <a:off x="736600" y="20066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900" b="1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7B736FF-D562-4B58-9FA4-153A4BFA9412}"/>
              </a:ext>
            </a:extLst>
          </p:cNvPr>
          <p:cNvSpPr txBox="1"/>
          <p:nvPr/>
        </p:nvSpPr>
        <p:spPr>
          <a:xfrm>
            <a:off x="1295400" y="19050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全文解析是启发式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3C8C373-27CD-4983-AE3B-1F93473CCC6B}"/>
              </a:ext>
            </a:extLst>
          </p:cNvPr>
          <p:cNvSpPr txBox="1"/>
          <p:nvPr/>
        </p:nvSpPr>
        <p:spPr>
          <a:xfrm>
            <a:off x="3225800" y="1905000"/>
            <a:ext cx="452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已读全文，但公式图表会丢弃，不能称为实验复现。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F9F1BDD-D1E6-4996-B954-F40BB753FDE3}"/>
              </a:ext>
            </a:extLst>
          </p:cNvPr>
          <p:cNvCxnSpPr/>
          <p:nvPr/>
        </p:nvCxnSpPr>
        <p:spPr>
          <a:xfrm>
            <a:off x="736600" y="2667000"/>
            <a:ext cx="7010400" cy="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7192AAD-229B-47C0-9F17-551EFFCD171E}"/>
              </a:ext>
            </a:extLst>
          </p:cNvPr>
          <p:cNvSpPr txBox="1"/>
          <p:nvPr/>
        </p:nvSpPr>
        <p:spPr>
          <a:xfrm>
            <a:off x="736600" y="29718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900" b="1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5291232-EA97-4DC4-84C3-332524320A0D}"/>
              </a:ext>
            </a:extLst>
          </p:cNvPr>
          <p:cNvSpPr txBox="1"/>
          <p:nvPr/>
        </p:nvSpPr>
        <p:spPr>
          <a:xfrm>
            <a:off x="1295400" y="2870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向量可能降级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693FEFC-6402-438C-9076-779AFF11D702}"/>
              </a:ext>
            </a:extLst>
          </p:cNvPr>
          <p:cNvSpPr txBox="1"/>
          <p:nvPr/>
        </p:nvSpPr>
        <p:spPr>
          <a:xfrm>
            <a:off x="3225800" y="2870200"/>
            <a:ext cx="452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hash-3gram </a:t>
            </a:r>
            <a:r>
              <a:rPr lang="zh-CN" altLang="en-US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只增加词形召回，不把它表述成真正的语义向量。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C1E72E7-1147-4CD2-A8DC-0CED535418C2}"/>
              </a:ext>
            </a:extLst>
          </p:cNvPr>
          <p:cNvCxnSpPr/>
          <p:nvPr/>
        </p:nvCxnSpPr>
        <p:spPr>
          <a:xfrm>
            <a:off x="736600" y="3632200"/>
            <a:ext cx="7010400" cy="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8B56A60D-A838-43BB-A7B7-1F620E0CFC31}"/>
              </a:ext>
            </a:extLst>
          </p:cNvPr>
          <p:cNvSpPr txBox="1"/>
          <p:nvPr/>
        </p:nvSpPr>
        <p:spPr>
          <a:xfrm>
            <a:off x="736600" y="39370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900" b="1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9CEE80F-8207-4F13-A9B8-78876DCAC5B4}"/>
              </a:ext>
            </a:extLst>
          </p:cNvPr>
          <p:cNvSpPr txBox="1"/>
          <p:nvPr/>
        </p:nvSpPr>
        <p:spPr>
          <a:xfrm>
            <a:off x="1295400" y="38354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比较仍是启发式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B9C977F-D028-4869-BBED-3856C3DB802F}"/>
              </a:ext>
            </a:extLst>
          </p:cNvPr>
          <p:cNvSpPr txBox="1"/>
          <p:nvPr/>
        </p:nvSpPr>
        <p:spPr>
          <a:xfrm>
            <a:off x="3225800" y="3835400"/>
            <a:ext cx="452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聚类、重排与冲突检测都可复查，但还不能替代深入人工分析。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C8736DC-80D8-4163-A56B-2B5B5921690F}"/>
              </a:ext>
            </a:extLst>
          </p:cNvPr>
          <p:cNvCxnSpPr/>
          <p:nvPr/>
        </p:nvCxnSpPr>
        <p:spPr>
          <a:xfrm>
            <a:off x="736600" y="4597400"/>
            <a:ext cx="7010400" cy="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86D2166C-C632-4E79-923A-12DA92F7499F}"/>
              </a:ext>
            </a:extLst>
          </p:cNvPr>
          <p:cNvSpPr txBox="1"/>
          <p:nvPr/>
        </p:nvSpPr>
        <p:spPr>
          <a:xfrm>
            <a:off x="736600" y="49022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7A8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900" b="1">
              <a:solidFill>
                <a:srgbClr val="7A8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5CCA1E6-905F-4F20-B0B3-0999D400962B}"/>
              </a:ext>
            </a:extLst>
          </p:cNvPr>
          <p:cNvSpPr txBox="1"/>
          <p:nvPr/>
        </p:nvSpPr>
        <p:spPr>
          <a:xfrm>
            <a:off x="1295400" y="48006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离线输出为英文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DECDEF4-4C61-45DC-B69D-F3C468E0D710}"/>
              </a:ext>
            </a:extLst>
          </p:cNvPr>
          <p:cNvSpPr txBox="1"/>
          <p:nvPr/>
        </p:nvSpPr>
        <p:spPr>
          <a:xfrm>
            <a:off x="3225800" y="4800600"/>
            <a:ext cx="452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离线模式用于验证流程；中文综述与更自然表达需要接入大模型。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BF4AAE77-E438-468E-AE1E-2A9B77DF6773}"/>
              </a:ext>
            </a:extLst>
          </p:cNvPr>
          <p:cNvCxnSpPr/>
          <p:nvPr/>
        </p:nvCxnSpPr>
        <p:spPr>
          <a:xfrm>
            <a:off x="736600" y="5562600"/>
            <a:ext cx="7010400" cy="0"/>
          </a:xfrm>
          <a:prstGeom prst="line">
            <a:avLst/>
          </a:prstGeom>
          <a:ln w="12700">
            <a:solidFill>
              <a:srgbClr val="E3E8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4E64BBE-FD2B-4D6F-A0D1-52ECED662D9C}"/>
              </a:ext>
            </a:extLst>
          </p:cNvPr>
          <p:cNvSpPr/>
          <p:nvPr/>
        </p:nvSpPr>
        <p:spPr>
          <a:xfrm>
            <a:off x="8204200" y="1905000"/>
            <a:ext cx="3276600" cy="2133600"/>
          </a:xfrm>
          <a:prstGeom prst="roundRect">
            <a:avLst/>
          </a:prstGeom>
          <a:solidFill>
            <a:srgbClr val="142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656CBDD-580F-4E33-A810-390001B0E8B6}"/>
              </a:ext>
            </a:extLst>
          </p:cNvPr>
          <p:cNvSpPr txBox="1"/>
          <p:nvPr/>
        </p:nvSpPr>
        <p:spPr>
          <a:xfrm>
            <a:off x="8483600" y="21590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本原型不承诺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B8214D9-D3F5-4577-A122-DF1A1E2FFEB9}"/>
              </a:ext>
            </a:extLst>
          </p:cNvPr>
          <p:cNvSpPr txBox="1"/>
          <p:nvPr/>
        </p:nvSpPr>
        <p:spPr>
          <a:xfrm>
            <a:off x="8483600" y="2717800"/>
            <a:ext cx="264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>
                <a:solidFill>
                  <a:srgbClr val="D7D7D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100">
                <a:solidFill>
                  <a:srgbClr val="D7D7D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全领域、全文献覆盖
</a:t>
            </a:r>
            <a:r>
              <a:rPr lang="en-US" altLang="zh-CN" sz="1100">
                <a:solidFill>
                  <a:srgbClr val="D7D7D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100">
                <a:solidFill>
                  <a:srgbClr val="D7D7D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自动替代专家综述
</a:t>
            </a:r>
            <a:r>
              <a:rPr lang="en-US" altLang="zh-CN" sz="1100">
                <a:solidFill>
                  <a:srgbClr val="D7D7D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100">
                <a:solidFill>
                  <a:srgbClr val="D7D7D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没有证据的新发现
</a:t>
            </a:r>
            <a:r>
              <a:rPr lang="en-US" altLang="zh-CN" sz="1100">
                <a:solidFill>
                  <a:srgbClr val="D7D7D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100">
                <a:solidFill>
                  <a:srgbClr val="D7D7D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一次性生成始终稳定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F430919-D1D8-45D2-A427-1EE744347CE3}"/>
              </a:ext>
            </a:extLst>
          </p:cNvPr>
          <p:cNvSpPr/>
          <p:nvPr/>
        </p:nvSpPr>
        <p:spPr>
          <a:xfrm>
            <a:off x="8204200" y="4318000"/>
            <a:ext cx="3276600" cy="1625600"/>
          </a:xfrm>
          <a:prstGeom prst="roundRect">
            <a:avLst/>
          </a:prstGeom>
          <a:solidFill>
            <a:srgbClr val="F0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B376BD0-DC75-4EBF-BD25-24EC661CBC0E}"/>
              </a:ext>
            </a:extLst>
          </p:cNvPr>
          <p:cNvSpPr txBox="1"/>
          <p:nvPr/>
        </p:nvSpPr>
        <p:spPr>
          <a:xfrm>
            <a:off x="8483600" y="45466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 b="1">
                <a:solidFill>
                  <a:srgbClr val="1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最终交付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B75919A-634B-4B68-9308-30FB40A4B97F}"/>
              </a:ext>
            </a:extLst>
          </p:cNvPr>
          <p:cNvSpPr txBox="1"/>
          <p:nvPr/>
        </p:nvSpPr>
        <p:spPr>
          <a:xfrm>
            <a:off x="8483600" y="5003800"/>
            <a:ext cx="264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review.md + </a:t>
            </a:r>
            <a:r>
              <a:rPr lang="zh-CN" altLang="en-US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证据附录
</a:t>
            </a:r>
            <a:r>
              <a:rPr lang="en-US" altLang="zh-CN" sz="1050">
                <a:solidFill>
                  <a:srgbClr val="333D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cards.json / families.json
issues.json / stats.json
trace.jsonl / runs.sqlite3</a:t>
            </a:r>
            <a:endParaRPr lang="zh-CN" altLang="en-US" sz="1050">
              <a:solidFill>
                <a:srgbClr val="333D4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537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B9254BF-F7AD-4D1A-AFBA-E470EDF39C18}"/>
              </a:ext>
            </a:extLst>
          </p:cNvPr>
          <p:cNvSpPr txBox="1"/>
          <p:nvPr/>
        </p:nvSpPr>
        <p:spPr>
          <a:xfrm>
            <a:off x="812800" y="660400"/>
            <a:ext cx="990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最后想交付的，不只是一篇综述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D7B9DA-A94A-442A-9931-261CBF09B50B}"/>
              </a:ext>
            </a:extLst>
          </p:cNvPr>
          <p:cNvSpPr txBox="1"/>
          <p:nvPr/>
        </p:nvSpPr>
        <p:spPr>
          <a:xfrm>
            <a:off x="838200" y="14732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>
                <a:solidFill>
                  <a:srgbClr val="C3C3C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而是一套能说明“找了哪些论文、怎样形成比较、结论来自哪里”的工作过程。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B8E7EC-6C47-4AE3-93ED-B2525087A645}"/>
              </a:ext>
            </a:extLst>
          </p:cNvPr>
          <p:cNvSpPr txBox="1"/>
          <p:nvPr/>
        </p:nvSpPr>
        <p:spPr>
          <a:xfrm>
            <a:off x="863600" y="2413000"/>
            <a:ext cx="63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 b="1">
                <a:solidFill>
                  <a:srgbClr val="969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1000" b="1">
              <a:solidFill>
                <a:srgbClr val="969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FB2AE6-CC4C-4B46-ABD7-90D388EB3481}"/>
              </a:ext>
            </a:extLst>
          </p:cNvPr>
          <p:cNvSpPr txBox="1"/>
          <p:nvPr/>
        </p:nvSpPr>
        <p:spPr>
          <a:xfrm>
            <a:off x="1727200" y="24130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一个已经跑通的骨架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D4C1B5-7642-460A-84B2-0C29F871407E}"/>
              </a:ext>
            </a:extLst>
          </p:cNvPr>
          <p:cNvSpPr txBox="1"/>
          <p:nvPr/>
        </p:nvSpPr>
        <p:spPr>
          <a:xfrm>
            <a:off x="5334000" y="24511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CLI</a:t>
            </a:r>
            <a:r>
              <a:rPr lang="zh-CN" altLang="en-US" sz="120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Web </a:t>
            </a:r>
            <a:r>
              <a:rPr lang="zh-CN" altLang="en-US" sz="120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三页、</a:t>
            </a:r>
            <a:r>
              <a:rPr lang="en-US" altLang="zh-CN" sz="120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SSE </a:t>
            </a:r>
            <a:r>
              <a:rPr lang="zh-CN" altLang="en-US" sz="120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进度和 </a:t>
            </a:r>
            <a:r>
              <a:rPr lang="en-US" altLang="zh-CN" sz="120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SQLite </a:t>
            </a:r>
            <a:r>
              <a:rPr lang="zh-CN" altLang="en-US" sz="120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存储。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2883849-9DEC-4D93-B22D-E631354E5249}"/>
              </a:ext>
            </a:extLst>
          </p:cNvPr>
          <p:cNvCxnSpPr/>
          <p:nvPr/>
        </p:nvCxnSpPr>
        <p:spPr>
          <a:xfrm>
            <a:off x="863600" y="3048000"/>
            <a:ext cx="10464800" cy="0"/>
          </a:xfrm>
          <a:prstGeom prst="line">
            <a:avLst/>
          </a:prstGeom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549AA9DA-CB3B-45BF-8F7F-A7C0632B6863}"/>
              </a:ext>
            </a:extLst>
          </p:cNvPr>
          <p:cNvSpPr txBox="1"/>
          <p:nvPr/>
        </p:nvSpPr>
        <p:spPr>
          <a:xfrm>
            <a:off x="863600" y="3403600"/>
            <a:ext cx="63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 b="1">
                <a:solidFill>
                  <a:srgbClr val="969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000" b="1">
              <a:solidFill>
                <a:srgbClr val="969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9901C00-F690-4A89-938D-508CC6B76087}"/>
              </a:ext>
            </a:extLst>
          </p:cNvPr>
          <p:cNvSpPr txBox="1"/>
          <p:nvPr/>
        </p:nvSpPr>
        <p:spPr>
          <a:xfrm>
            <a:off x="1727200" y="34036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一条能回看的证据链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DF2CE14-FCE9-462C-9437-3B0148EEEF58}"/>
              </a:ext>
            </a:extLst>
          </p:cNvPr>
          <p:cNvSpPr txBox="1"/>
          <p:nvPr/>
        </p:nvSpPr>
        <p:spPr>
          <a:xfrm>
            <a:off x="5334000" y="34417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Claim → span_id → 章节片段 → arXiv 论文。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2EA75CC-AE0A-4271-86A3-D6D991F6199E}"/>
              </a:ext>
            </a:extLst>
          </p:cNvPr>
          <p:cNvCxnSpPr/>
          <p:nvPr/>
        </p:nvCxnSpPr>
        <p:spPr>
          <a:xfrm>
            <a:off x="863600" y="4038600"/>
            <a:ext cx="10464800" cy="0"/>
          </a:xfrm>
          <a:prstGeom prst="line">
            <a:avLst/>
          </a:prstGeom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C743BB9E-5784-4690-A4CA-86A72385D5A7}"/>
              </a:ext>
            </a:extLst>
          </p:cNvPr>
          <p:cNvSpPr txBox="1"/>
          <p:nvPr/>
        </p:nvSpPr>
        <p:spPr>
          <a:xfrm>
            <a:off x="863600" y="4394200"/>
            <a:ext cx="63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 b="1">
                <a:solidFill>
                  <a:srgbClr val="969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000" b="1">
              <a:solidFill>
                <a:srgbClr val="9696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28F070F-F3B9-4247-A511-379DCAB9AD08}"/>
              </a:ext>
            </a:extLst>
          </p:cNvPr>
          <p:cNvSpPr txBox="1"/>
          <p:nvPr/>
        </p:nvSpPr>
        <p:spPr>
          <a:xfrm>
            <a:off x="1727200" y="43942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一组不回避边界的实验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8040662-062E-4349-A0EE-315C8997139F}"/>
              </a:ext>
            </a:extLst>
          </p:cNvPr>
          <p:cNvSpPr txBox="1"/>
          <p:nvPr/>
        </p:nvSpPr>
        <p:spPr>
          <a:xfrm>
            <a:off x="5334000" y="44323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保留对照配置、问题句、运行日志和当前限制。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3C759B4-20F7-40EB-9B8D-2035246EB4E9}"/>
              </a:ext>
            </a:extLst>
          </p:cNvPr>
          <p:cNvCxnSpPr/>
          <p:nvPr/>
        </p:nvCxnSpPr>
        <p:spPr>
          <a:xfrm>
            <a:off x="863600" y="5029200"/>
            <a:ext cx="10464800" cy="0"/>
          </a:xfrm>
          <a:prstGeom prst="line">
            <a:avLst/>
          </a:prstGeom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08FA8ADF-A723-4C2B-8D02-352F1F200E49}"/>
              </a:ext>
            </a:extLst>
          </p:cNvPr>
          <p:cNvSpPr txBox="1"/>
          <p:nvPr/>
        </p:nvSpPr>
        <p:spPr>
          <a:xfrm>
            <a:off x="838200" y="5816600"/>
            <a:ext cx="609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谢谢，请各位老师指正。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06DFE3D-F16E-4C53-9043-1156A1A5BE5A}"/>
              </a:ext>
            </a:extLst>
          </p:cNvPr>
          <p:cNvSpPr txBox="1"/>
          <p:nvPr/>
        </p:nvSpPr>
        <p:spPr>
          <a:xfrm>
            <a:off x="8636000" y="5867400"/>
            <a:ext cx="2692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>
                <a:solidFill>
                  <a:srgbClr val="969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项目十三  </a:t>
            </a:r>
            <a:r>
              <a:rPr lang="en-US" altLang="zh-CN" sz="1000">
                <a:solidFill>
                  <a:srgbClr val="969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 </a:t>
            </a:r>
            <a:r>
              <a:rPr lang="zh-CN" altLang="en-US" sz="1000">
                <a:solidFill>
                  <a:srgbClr val="9696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开题答辩</a:t>
            </a:r>
          </a:p>
        </p:txBody>
      </p:sp>
    </p:spTree>
    <p:extLst>
      <p:ext uri="{BB962C8B-B14F-4D97-AF65-F5344CB8AC3E}">
        <p14:creationId xmlns:p14="http://schemas.microsoft.com/office/powerpoint/2010/main" val="2133399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2619</Words>
  <Application>Microsoft Office PowerPoint</Application>
  <PresentationFormat>宽屏</PresentationFormat>
  <Paragraphs>329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 子涵</dc:creator>
  <cp:lastModifiedBy>张 子涵</cp:lastModifiedBy>
  <cp:revision>2</cp:revision>
  <dcterms:created xsi:type="dcterms:W3CDTF">2026-10-28T05:14:45Z</dcterms:created>
  <dcterms:modified xsi:type="dcterms:W3CDTF">2026-10-28T05:16:40Z</dcterms:modified>
</cp:coreProperties>
</file>